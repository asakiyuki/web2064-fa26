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5B6F242-FF54-4324-8EFE-E4A3A9C335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4BB3F0-DFB8-4EC8-A502-9BA7B84BAA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D8554F-290E-459C-8ABF-4C4543C325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9AA06D-8C98-4471-BFF9-EBF975B23CC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7BA09B-14E5-43F6-AA97-548E6E67522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A8FEFF1-EB9B-4557-8E40-466FC6DE340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609C72-D2FA-4DD3-B6DA-C60AF192DD4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hyperlink" Target="https://github.com/AsakiYuki/web2064-fa26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89B4FA"/>
          </a:solidFill>
          <a:ln w="12600">
            <a:solidFill>
              <a:srgbClr val="89B4F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89B4F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A6ADC8"/>
                </a:solidFill>
                <a:effectLst/>
                <a:uFillTx/>
                <a:latin typeface="Arial"/>
              </a:rPr>
              <a:t>PROJECT     01 / 06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399B2"/>
                </a:solidFill>
                <a:effectLst/>
                <a:uFillTx/>
                <a:latin typeface="Arial"/>
              </a:rPr>
              <a:t>01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4"/>
          <p:cNvSpPr/>
          <p:nvPr/>
        </p:nvSpPr>
        <p:spPr>
          <a:xfrm>
            <a:off x="685800" y="1234440"/>
            <a:ext cx="540000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159" strike="noStrike">
                <a:solidFill>
                  <a:srgbClr val="89B4FA"/>
                </a:solidFill>
                <a:effectLst/>
                <a:uFillTx/>
                <a:latin typeface="Arial"/>
              </a:rPr>
              <a:t>01 · PROJECT · HỆ THỐNG BETA CINEMAS</a:t>
            </a:r>
            <a:endParaRPr lang="en-US" sz="11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640080" y="1645920"/>
            <a:ext cx="5400000" cy="100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-99" strike="noStrike">
                <a:solidFill>
                  <a:srgbClr val="CDD6F4"/>
                </a:solidFill>
                <a:effectLst/>
                <a:uFillTx/>
                <a:latin typeface="Arial"/>
              </a:rPr>
              <a:t>Beta Cinemas</a:t>
            </a:r>
            <a:endParaRPr lang="en-US" sz="42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pc="-99" strike="noStrike">
                <a:solidFill>
                  <a:srgbClr val="CDD6F4"/>
                </a:solidFill>
                <a:effectLst/>
                <a:uFillTx/>
                <a:latin typeface="Arial"/>
              </a:rPr>
              <a:t>Đặt vé gọn. Đi xem vui.</a:t>
            </a:r>
            <a:endParaRPr lang="en-US" sz="42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6"/>
          <p:cNvSpPr/>
          <p:nvPr/>
        </p:nvSpPr>
        <p:spPr>
          <a:xfrm>
            <a:off x="685800" y="2700000"/>
            <a:ext cx="540000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BAC2DE"/>
                </a:solidFill>
                <a:effectLst/>
                <a:uFillTx/>
                <a:latin typeface="Arial"/>
              </a:rPr>
              <a:t>Nền tảng đặt vé xem phim trực tuyến hiện đại (14 trang MPA), tối ưu Mobile &amp; Desktop, tích hợp REST API và triển khai trên Vercel.</a:t>
            </a:r>
            <a:endParaRPr lang="en-US" sz="16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7"/>
          <p:cNvSpPr/>
          <p:nvPr/>
        </p:nvSpPr>
        <p:spPr>
          <a:xfrm>
            <a:off x="685800" y="4500000"/>
            <a:ext cx="27000" cy="1260000"/>
          </a:xfrm>
          <a:prstGeom prst="rect">
            <a:avLst/>
          </a:prstGeom>
          <a:solidFill>
            <a:srgbClr val="89B4FA"/>
          </a:solidFill>
          <a:ln w="12600">
            <a:solidFill>
              <a:srgbClr val="89B4F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8"/>
          <p:cNvSpPr/>
          <p:nvPr/>
        </p:nvSpPr>
        <p:spPr>
          <a:xfrm>
            <a:off x="831960" y="450000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A6ADC8"/>
                </a:solidFill>
                <a:effectLst/>
                <a:uFillTx/>
                <a:latin typeface="Arial"/>
              </a:rPr>
              <a:t>CÁC TÍNH NĂNG CHÍNH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7"/>
          <p:cNvSpPr/>
          <p:nvPr/>
        </p:nvSpPr>
        <p:spPr>
          <a:xfrm>
            <a:off x="831960" y="4752000"/>
            <a:ext cx="3291480" cy="108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Đặt vé &amp; chọn sơ đồ 164 ghế trực quan, giữ chỗ 5 phút.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Đa kênh thanh toán, voucher giảm giá &amp; vé điện tử SVG QR.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10"/>
          <p:cNvSpPr/>
          <p:nvPr/>
        </p:nvSpPr>
        <p:spPr>
          <a:xfrm>
            <a:off x="4389120" y="4500000"/>
            <a:ext cx="27000" cy="1260000"/>
          </a:xfrm>
          <a:prstGeom prst="rect">
            <a:avLst/>
          </a:prstGeom>
          <a:solidFill>
            <a:srgbClr val="89B4FA"/>
          </a:solidFill>
          <a:ln w="12600">
            <a:solidFill>
              <a:srgbClr val="89B4F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1"/>
          <p:cNvSpPr/>
          <p:nvPr/>
        </p:nvSpPr>
        <p:spPr>
          <a:xfrm>
            <a:off x="4535280" y="450000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A6ADC8"/>
                </a:solidFill>
                <a:effectLst/>
                <a:uFillTx/>
                <a:latin typeface="Arial"/>
              </a:rPr>
              <a:t>ĐỐI TƯỢNG SỬ DỤNG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4535280" y="4752000"/>
            <a:ext cx="3291480" cy="108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Khán giả: Học sinh, sinh viên, người yêu điện ảnh cần đặt vé nhanh.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Nhân viên rạp: Soát vé QR check-in tại quầy &amp; theo dõi doanh thu.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3"/>
          <p:cNvSpPr/>
          <p:nvPr/>
        </p:nvSpPr>
        <p:spPr>
          <a:xfrm>
            <a:off x="8092440" y="4500000"/>
            <a:ext cx="27000" cy="1260000"/>
          </a:xfrm>
          <a:prstGeom prst="rect">
            <a:avLst/>
          </a:prstGeom>
          <a:solidFill>
            <a:srgbClr val="89B4FA"/>
          </a:solidFill>
          <a:ln w="12600">
            <a:solidFill>
              <a:srgbClr val="89B4F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4"/>
          <p:cNvSpPr/>
          <p:nvPr/>
        </p:nvSpPr>
        <p:spPr>
          <a:xfrm>
            <a:off x="8238600" y="4500000"/>
            <a:ext cx="3200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A6ADC8"/>
                </a:solidFill>
                <a:effectLst/>
                <a:uFillTx/>
                <a:latin typeface="Arial"/>
              </a:rPr>
              <a:t>THÀNH VIÊN &amp; VAI TRÒ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1"/>
          <p:cNvSpPr/>
          <p:nvPr/>
        </p:nvSpPr>
        <p:spPr>
          <a:xfrm>
            <a:off x="8238600" y="4752000"/>
            <a:ext cx="3291480" cy="108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Nguyễn Văn Trọng: Leader &amp; Architect (UI, Router, API, Vercel)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Vũ Tiến Lập (PH65133): Frontend &amp; QA Lead (Checkout, Rạp, Test 56/56)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Phạm Anh Duy (PH65717): Feature Lead (Ghế 164, Voucher, Member 3D, Admin)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28" name="CardPreviewHome"/>
          <p:cNvSpPr/>
          <p:nvPr/>
        </p:nvSpPr>
        <p:spPr>
          <a:xfrm>
            <a:off x="6300000" y="1152000"/>
            <a:ext cx="5328000" cy="3024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pic>
        <p:nvPicPr>
          <p:cNvPr id="29" name="PreviewHome"/>
          <p:cNvPicPr/>
          <p:nvPr/>
        </p:nvPicPr>
        <p:blipFill>
          <a:blip r:embed="rId1"/>
          <a:stretch/>
        </p:blipFill>
        <p:spPr>
          <a:xfrm>
            <a:off x="6408000" y="1242000"/>
            <a:ext cx="5112000" cy="2844000"/>
          </a:xfrm>
          <a:prstGeom prst="rect">
            <a:avLst/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bg>
    <p:bgPr>
      <a:solidFill>
        <a:srgbClr val="1E1E2E"/>
      </a:solidFill>
    </p:bgPr>
  </p:bg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89B4FA"/>
          </a:solidFill>
          <a:ln w="12600">
            <a:solidFill>
              <a:srgbClr val="89B4F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89B4F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A6ADC8"/>
                </a:solidFill>
                <a:effectLst/>
                <a:uFillTx/>
                <a:latin typeface="Arial"/>
              </a:rPr>
              <a:t>CHỨC NĂNG CHÍNH     02 / 06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399B2"/>
                </a:solidFill>
                <a:effectLst/>
                <a:uFillTx/>
                <a:latin typeface="Arial"/>
              </a:rPr>
              <a:t>02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89B4FA"/>
                </a:solidFill>
                <a:effectLst/>
                <a:uFillTx/>
                <a:latin typeface="Arial"/>
              </a:rPr>
              <a:t>02 · CHỨC NĂNG CHÍNH</a:t>
            </a:r>
            <a:endParaRPr lang="en-US" sz="10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CDD6F4"/>
                </a:solidFill>
                <a:effectLst/>
                <a:uFillTx/>
                <a:latin typeface="Arial"/>
              </a:rPr>
              <a:t>Hệ thống 14 trang MPA tập trung vào các chức năng cốt lõi nhóm đã xây dựng.</a:t>
            </a:r>
            <a:endParaRPr lang="en-US" sz="31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36" name="Card 01"/>
          <p:cNvSpPr/>
          <p:nvPr/>
        </p:nvSpPr>
        <p:spPr>
          <a:xfrm>
            <a:off x="594360" y="2484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37" name="Num 01"/>
          <p:cNvSpPr/>
          <p:nvPr/>
        </p:nvSpPr>
        <p:spPr>
          <a:xfrm>
            <a:off x="777240" y="2646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89B4FA"/>
                </a:solidFill>
                <a:effectLst/>
                <a:uFillTx/>
                <a:latin typeface="Arial"/>
              </a:rPr>
              <a:t>01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38" name="Title 01"/>
          <p:cNvSpPr/>
          <p:nvPr/>
        </p:nvSpPr>
        <p:spPr>
          <a:xfrm>
            <a:off x="777240" y="2916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Khám phá &amp; Trailer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39" name="Desc 01"/>
          <p:cNvSpPr/>
          <p:nvPr/>
        </p:nvSpPr>
        <p:spPr>
          <a:xfrm>
            <a:off x="777240" y="3240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Duyệt phim Đang chiếu &amp; Sắp chiếu; bộ lọc tìm kiếm theo thể loại &amp; 2D/3D; xem trailer YouTube modal trực tiếp.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40" name="Card 02"/>
          <p:cNvSpPr/>
          <p:nvPr/>
        </p:nvSpPr>
        <p:spPr>
          <a:xfrm>
            <a:off x="4325040" y="2484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41" name="Num 02"/>
          <p:cNvSpPr/>
          <p:nvPr/>
        </p:nvSpPr>
        <p:spPr>
          <a:xfrm>
            <a:off x="4507920" y="2646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89B4FA"/>
                </a:solidFill>
                <a:effectLst/>
                <a:uFillTx/>
                <a:latin typeface="Arial"/>
              </a:rPr>
              <a:t>02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42" name="Title 02"/>
          <p:cNvSpPr/>
          <p:nvPr/>
        </p:nvSpPr>
        <p:spPr>
          <a:xfrm>
            <a:off x="4507920" y="2916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Lịch chiếu &amp; 10 Cụm rạp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43" name="Desc 02"/>
          <p:cNvSpPr/>
          <p:nvPr/>
        </p:nvSpPr>
        <p:spPr>
          <a:xfrm>
            <a:off x="4507920" y="3240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Tra cứu suất chiếu theo ngày tại 10 rạp Beta toàn quốc; lọc nhanh theo định dạng phòng chiếu (2D Lồng tiếng/Phụ đề).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44" name="Card 03"/>
          <p:cNvSpPr/>
          <p:nvPr/>
        </p:nvSpPr>
        <p:spPr>
          <a:xfrm>
            <a:off x="8055720" y="2484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45" name="Num 03"/>
          <p:cNvSpPr/>
          <p:nvPr/>
        </p:nvSpPr>
        <p:spPr>
          <a:xfrm>
            <a:off x="8238600" y="2646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89B4FA"/>
                </a:solidFill>
                <a:effectLst/>
                <a:uFillTx/>
                <a:latin typeface="Arial"/>
              </a:rPr>
              <a:t>03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46" name="Title 03"/>
          <p:cNvSpPr/>
          <p:nvPr/>
        </p:nvSpPr>
        <p:spPr>
          <a:xfrm>
            <a:off x="8238600" y="2916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Sơ đồ ghế 164 chỗ &amp; Giữ ghế 5 phút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47" name="Desc 03"/>
          <p:cNvSpPr/>
          <p:nvPr/>
        </p:nvSpPr>
        <p:spPr>
          <a:xfrm>
            <a:off x="8238600" y="3240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12 hàng ghế A-M (Standard, VIP, Sweetbox đôi); tự động kích hoạt đếm ngược 5 phút chống đặt trùng ghế.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48" name="Card 04"/>
          <p:cNvSpPr/>
          <p:nvPr/>
        </p:nvSpPr>
        <p:spPr>
          <a:xfrm>
            <a:off x="594360" y="4392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49" name="Num 04"/>
          <p:cNvSpPr/>
          <p:nvPr/>
        </p:nvSpPr>
        <p:spPr>
          <a:xfrm>
            <a:off x="777240" y="4554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89B4FA"/>
                </a:solidFill>
                <a:effectLst/>
                <a:uFillTx/>
                <a:latin typeface="Arial"/>
              </a:rPr>
              <a:t>04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50" name="Title 04"/>
          <p:cNvSpPr/>
          <p:nvPr/>
        </p:nvSpPr>
        <p:spPr>
          <a:xfrm>
            <a:off x="777240" y="4824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Combo Bắp nước &amp; Voucher ưu đãi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51" name="Desc 04"/>
          <p:cNvSpPr/>
          <p:nvPr/>
        </p:nvSpPr>
        <p:spPr>
          <a:xfrm>
            <a:off x="777240" y="5148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Chọn combo bắp nước đi kèm; tự động kiểm tra điều kiện áp mã (BETA10, BETA50, SV20) và chiết khấu tức thì.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52" name="Card 05"/>
          <p:cNvSpPr/>
          <p:nvPr/>
        </p:nvSpPr>
        <p:spPr>
          <a:xfrm>
            <a:off x="4325040" y="4392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53" name="Num 05"/>
          <p:cNvSpPr/>
          <p:nvPr/>
        </p:nvSpPr>
        <p:spPr>
          <a:xfrm>
            <a:off x="4507920" y="4554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89B4FA"/>
                </a:solidFill>
                <a:effectLst/>
                <a:uFillTx/>
                <a:latin typeface="Arial"/>
              </a:rPr>
              <a:t>05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54" name="Title 05"/>
          <p:cNvSpPr/>
          <p:nvPr/>
        </p:nvSpPr>
        <p:spPr>
          <a:xfrm>
            <a:off x="4507920" y="4824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Thanh toán đa kênh &amp; Xuất vé QR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55" name="Desc 05"/>
          <p:cNvSpPr/>
          <p:nvPr/>
        </p:nvSpPr>
        <p:spPr>
          <a:xfrm>
            <a:off x="4507920" y="5148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Thanh toán đa kênh (MoMo, ZaloPay, Thẻ quốc tế, VietQR); tự động sinh Vé điện tử SVG kèm mã QR Kiosk check-in.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56" name="Card 06"/>
          <p:cNvSpPr/>
          <p:nvPr/>
        </p:nvSpPr>
        <p:spPr>
          <a:xfrm>
            <a:off x="8055720" y="4392000"/>
            <a:ext cx="3492720" cy="1710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57" name="Num 06"/>
          <p:cNvSpPr/>
          <p:nvPr/>
        </p:nvSpPr>
        <p:spPr>
          <a:xfrm>
            <a:off x="8238600" y="4554000"/>
            <a:ext cx="43200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89B4FA"/>
                </a:solidFill>
                <a:effectLst/>
                <a:uFillTx/>
                <a:latin typeface="Arial"/>
              </a:rPr>
              <a:t>06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58" name="Title 06"/>
          <p:cNvSpPr/>
          <p:nvPr/>
        </p:nvSpPr>
        <p:spPr>
          <a:xfrm>
            <a:off x="8238600" y="4824000"/>
            <a:ext cx="313200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Trang Thành viên 3D &amp; Cổng Admin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59" name="Desc 06"/>
          <p:cNvSpPr/>
          <p:nvPr/>
        </p:nvSpPr>
        <p:spPr>
          <a:xfrm>
            <a:off x="8238600" y="5148000"/>
            <a:ext cx="3132000" cy="82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Thẻ hội viên 3D lật mặt &amp; máy tính tích điểm; Cổng Admin bảo mật Auth Gate, Dashboard KPI &amp; 8 Tabs quản lý nghiệp vụ.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bg>
    <p:bgPr>
      <a:solidFill>
        <a:srgbClr val="1E1E2E"/>
      </a:solidFill>
    </p:bgPr>
  </p:bg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89B4FA"/>
          </a:solidFill>
          <a:ln w="12600">
            <a:solidFill>
              <a:srgbClr val="89B4F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89B4F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A6ADC8"/>
                </a:solidFill>
                <a:effectLst/>
                <a:uFillTx/>
                <a:latin typeface="Arial"/>
              </a:rPr>
              <a:t>MVP     03 / 06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399B2"/>
                </a:solidFill>
                <a:effectLst/>
                <a:uFillTx/>
                <a:latin typeface="Arial"/>
              </a:rPr>
              <a:t>03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89B4FA"/>
                </a:solidFill>
                <a:effectLst/>
                <a:uFillTx/>
                <a:latin typeface="Arial"/>
              </a:rPr>
              <a:t>03 · MVP (MINIMUM VIABLE PRODUCT)</a:t>
            </a:r>
            <a:endParaRPr lang="en-US" sz="10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CDD6F4"/>
                </a:solidFill>
                <a:effectLst/>
                <a:uFillTx/>
                <a:latin typeface="Arial"/>
              </a:rPr>
              <a:t>Đánh giá phạm vi MVP: Yêu cầu cốt lõi, mức độ hoàn thiện và định hướng scope.</a:t>
            </a:r>
            <a:endParaRPr lang="en-US" sz="31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66" name="Card Must Have"/>
          <p:cNvSpPr/>
          <p:nvPr/>
        </p:nvSpPr>
        <p:spPr>
          <a:xfrm>
            <a:off x="594360" y="2448000"/>
            <a:ext cx="5348880" cy="1584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67" name="Title Must Have"/>
          <p:cNvSpPr/>
          <p:nvPr/>
        </p:nvSpPr>
        <p:spPr>
          <a:xfrm>
            <a:off x="813960" y="2574000"/>
            <a:ext cx="4910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CDD6F4"/>
                </a:solidFill>
                <a:effectLst/>
                <a:uFillTx/>
                <a:latin typeface="Arial"/>
              </a:rPr>
              <a:t>1. MUST HAVE (YÊU CẦU CỐT LÕI)</a:t>
            </a:r>
            <a:endParaRPr lang="en-US" sz="14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68" name="Body Must Have"/>
          <p:cNvSpPr/>
          <p:nvPr/>
        </p:nvSpPr>
        <p:spPr>
          <a:xfrm>
            <a:off x="813960" y="2862000"/>
            <a:ext cx="4910040" cy="1116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Luồng đặt vé khép kín: Chọn phim → suất → ghế → bắp nước → vé QR.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Sơ đồ 164 ghế trực quan, giữ chỗ 5 phút chống đặt trùng thời gian thực.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Tài khoản hội viên &amp; bảo mật Cổng quản trị Admin bằng JWT Token.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69" name="Card Completed"/>
          <p:cNvSpPr/>
          <p:nvPr/>
        </p:nvSpPr>
        <p:spPr>
          <a:xfrm>
            <a:off x="594360" y="4122000"/>
            <a:ext cx="5348880" cy="1620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70" name="Title Completed"/>
          <p:cNvSpPr/>
          <p:nvPr/>
        </p:nvSpPr>
        <p:spPr>
          <a:xfrm>
            <a:off x="813960" y="4230000"/>
            <a:ext cx="4910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CDD6F4"/>
                </a:solidFill>
                <a:effectLst/>
                <a:uFillTx/>
                <a:latin typeface="Arial"/>
              </a:rPr>
              <a:t>2. ĐÃ HOÀN THÀNH GÌ? (100% CAM KẾT)</a:t>
            </a:r>
            <a:endParaRPr lang="en-US" sz="14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71" name="Body Completed"/>
          <p:cNvSpPr/>
          <p:nvPr/>
        </p:nvSpPr>
        <p:spPr>
          <a:xfrm>
            <a:off x="813960" y="4518000"/>
            <a:ext cx="4910040" cy="1152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14/14 trang MPA hoàn thiện, responsive mượt mà Desktop &amp; Mobile.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Giữ ghế 5 phút, áp mã voucher, thẻ thành viên 3D, soát vé QR tức thì.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Bộ test tự động 56/56 Use Cases &amp; Ngoại lệ PASS 100%; Vite build tối ưu ~1s.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72" name="Card Pending"/>
          <p:cNvSpPr/>
          <p:nvPr/>
        </p:nvSpPr>
        <p:spPr>
          <a:xfrm>
            <a:off x="6236280" y="2448000"/>
            <a:ext cx="5348880" cy="1584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73" name="Title Pending"/>
          <p:cNvSpPr/>
          <p:nvPr/>
        </p:nvSpPr>
        <p:spPr>
          <a:xfrm>
            <a:off x="6455520" y="2574000"/>
            <a:ext cx="4910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CDD6F4"/>
                </a:solidFill>
                <a:effectLst/>
                <a:uFillTx/>
                <a:latin typeface="Arial"/>
              </a:rPr>
              <a:t>3. CHƯA HOÀN THÀNH GÌ? (HẠN CHẾ DEMO)</a:t>
            </a:r>
            <a:endParaRPr lang="en-US" sz="14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74" name="Body Pending"/>
          <p:cNvSpPr/>
          <p:nvPr/>
        </p:nvSpPr>
        <p:spPr>
          <a:xfrm>
            <a:off x="6455520" y="2862000"/>
            <a:ext cx="4910040" cy="1116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Cổng thanh toán ngân hàng thật (cần tư cách pháp nhân ký hợp đồng VNPAY).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Gửi vé tự động SMS Brandname / Zalo ZNS (yêu cầu chi phí viễn thông).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Đồng bộ phòng chiếu đa server (hiện sử dụng REST API tập trung).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75" name="Card Scoped Out"/>
          <p:cNvSpPr/>
          <p:nvPr/>
        </p:nvSpPr>
        <p:spPr>
          <a:xfrm>
            <a:off x="6236280" y="4122000"/>
            <a:ext cx="5348880" cy="1620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76" name="Title Scoped Out"/>
          <p:cNvSpPr/>
          <p:nvPr/>
        </p:nvSpPr>
        <p:spPr>
          <a:xfrm>
            <a:off x="6455520" y="4230000"/>
            <a:ext cx="49100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CDD6F4"/>
                </a:solidFill>
                <a:effectLst/>
                <a:uFillTx/>
                <a:latin typeface="Arial"/>
              </a:rPr>
              <a:t>4. NHỮNG GÌ ĐÃ CẮT KHỎI SCOPE (TỐI ƯU MVP)</a:t>
            </a:r>
            <a:endParaRPr lang="en-US" sz="14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77" name="Body Scoped Out"/>
          <p:cNvSpPr/>
          <p:nvPr/>
        </p:nvSpPr>
        <p:spPr>
          <a:xfrm>
            <a:off x="6455520" y="4518000"/>
            <a:ext cx="4910040" cy="1152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Đặt vé theo nhóm chia tiền (Split-bill): Cắt để ưu tiên luồng đặt vé nhanh.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Đặt trước xe đưa đón rạp: Cắt vì không thuộc nghiệp vụ cốt lõi rạp phim.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Mạng xã hội bình luận đa cấp: Thay bằng trailer YouTube &amp; đánh giá trực tiếp.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78" name="Footer MVP"/>
          <p:cNvSpPr/>
          <p:nvPr/>
        </p:nvSpPr>
        <p:spPr>
          <a:xfrm>
            <a:off x="658440" y="5870520"/>
            <a:ext cx="108810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6ADC8"/>
                </a:solidFill>
                <a:effectLst/>
                <a:uFillTx/>
                <a:latin typeface="Arial"/>
              </a:rPr>
              <a:t>Hệ thống hoàn thành 100% mục tiêu MVP cốt lõi, chuẩn kiến trúc MPA, sẵn sàng demo và đưa vào sử dụng.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89B4FA"/>
          </a:solidFill>
          <a:ln w="12600">
            <a:solidFill>
              <a:srgbClr val="89B4F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89B4F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A6ADC8"/>
                </a:solidFill>
                <a:effectLst/>
                <a:uFillTx/>
                <a:latin typeface="Arial"/>
              </a:rPr>
              <a:t>SOLUTION     04 / 06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399B2"/>
                </a:solidFill>
                <a:effectLst/>
                <a:uFillTx/>
                <a:latin typeface="Arial"/>
              </a:rPr>
              <a:t>04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89B4FA"/>
                </a:solidFill>
                <a:effectLst/>
                <a:uFillTx/>
                <a:latin typeface="Arial"/>
              </a:rPr>
              <a:t>04 · SOLUTION</a:t>
            </a:r>
            <a:endParaRPr lang="en-US" sz="10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CDD6F4"/>
                </a:solidFill>
                <a:effectLst/>
                <a:uFillTx/>
                <a:latin typeface="Arial"/>
              </a:rPr>
              <a:t>Kiến trúc hiện đại kết hợp Vite MPA, Bun Runtime, REST API và Vercel.</a:t>
            </a:r>
            <a:endParaRPr lang="en-US" sz="31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6"/>
          <p:cNvSpPr/>
          <p:nvPr/>
        </p:nvSpPr>
        <p:spPr>
          <a:xfrm>
            <a:off x="685800" y="25146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7"/>
          <p:cNvSpPr/>
          <p:nvPr/>
        </p:nvSpPr>
        <p:spPr>
          <a:xfrm>
            <a:off x="813960" y="264276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HTML5 / SCSS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8"/>
          <p:cNvSpPr/>
          <p:nvPr/>
        </p:nvSpPr>
        <p:spPr>
          <a:xfrm>
            <a:off x="813960" y="29534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6ADC8"/>
                </a:solidFill>
                <a:effectLst/>
                <a:uFillTx/>
                <a:latin typeface="Arial"/>
              </a:rPr>
              <a:t>14 trang MPA, SCSS module hóa, responsive Mobile &amp; PC.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9"/>
          <p:cNvSpPr/>
          <p:nvPr/>
        </p:nvSpPr>
        <p:spPr>
          <a:xfrm>
            <a:off x="2770560" y="25146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0"/>
          <p:cNvSpPr/>
          <p:nvPr/>
        </p:nvSpPr>
        <p:spPr>
          <a:xfrm>
            <a:off x="2898720" y="264276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Vanilla JS &amp; Bun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1"/>
          <p:cNvSpPr/>
          <p:nvPr/>
        </p:nvSpPr>
        <p:spPr>
          <a:xfrm>
            <a:off x="2898720" y="29534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6ADC8"/>
                </a:solidFill>
                <a:effectLst/>
                <a:uFillTx/>
                <a:latin typeface="Arial"/>
              </a:rPr>
              <a:t>Logic thuần mượt mà, không phụ thuộc framework, runtime Bun.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12"/>
          <p:cNvSpPr/>
          <p:nvPr/>
        </p:nvSpPr>
        <p:spPr>
          <a:xfrm>
            <a:off x="685800" y="35388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13"/>
          <p:cNvSpPr/>
          <p:nvPr/>
        </p:nvSpPr>
        <p:spPr>
          <a:xfrm>
            <a:off x="813960" y="366660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json-server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14"/>
          <p:cNvSpPr/>
          <p:nvPr/>
        </p:nvSpPr>
        <p:spPr>
          <a:xfrm>
            <a:off x="813960" y="39776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6ADC8"/>
                </a:solidFill>
                <a:effectLst/>
                <a:uFillTx/>
                <a:latin typeface="Arial"/>
              </a:rPr>
              <a:t>REST API CRUD: movies, showtimes, cinemas, concessions, bookings.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5"/>
          <p:cNvSpPr/>
          <p:nvPr/>
        </p:nvSpPr>
        <p:spPr>
          <a:xfrm>
            <a:off x="2770560" y="3538800"/>
            <a:ext cx="1919880" cy="804240"/>
          </a:xfrm>
          <a:prstGeom prst="roundRect">
            <a:avLst>
              <a:gd name="adj" fmla="val 9091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6"/>
          <p:cNvSpPr/>
          <p:nvPr/>
        </p:nvSpPr>
        <p:spPr>
          <a:xfrm>
            <a:off x="2898720" y="3666600"/>
            <a:ext cx="169128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json-server-auth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17"/>
          <p:cNvSpPr/>
          <p:nvPr/>
        </p:nvSpPr>
        <p:spPr>
          <a:xfrm>
            <a:off x="2898720" y="3977640"/>
            <a:ext cx="1663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A6ADC8"/>
                </a:solidFill>
                <a:effectLst/>
                <a:uFillTx/>
                <a:latin typeface="Arial"/>
              </a:rPr>
              <a:t>JWT Token, mã hóa bcrypt, đăng nhập Email/SĐT, phân quyền.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20"/>
          <p:cNvSpPr/>
          <p:nvPr/>
        </p:nvSpPr>
        <p:spPr>
          <a:xfrm>
            <a:off x="5074920" y="254196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89B4FA"/>
                </a:solidFill>
                <a:effectLst/>
                <a:uFillTx/>
                <a:latin typeface="Arial"/>
              </a:rPr>
              <a:t>CÁC MODULE CHÍNH (14 TRANG MPA)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8"/>
          <p:cNvSpPr/>
          <p:nvPr/>
        </p:nvSpPr>
        <p:spPr>
          <a:xfrm>
            <a:off x="5074920" y="2807280"/>
            <a:ext cx="6263280" cy="54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Khách hàng (11 trang): Home · movies · detail · schedule · cinemas · pricing · news · booking · checkout · member · profile.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Quản trị &amp; Tiện ích (3 trang): admin (Dashboard KPI, 8 Tabs quản lý &amp; Soát vé QR) · 404 · error.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2"/>
          <p:cNvSpPr/>
          <p:nvPr/>
        </p:nvSpPr>
        <p:spPr>
          <a:xfrm>
            <a:off x="5074920" y="3392280"/>
            <a:ext cx="6126480" cy="360"/>
          </a:xfrm>
          <a:prstGeom prst="line">
            <a:avLst/>
          </a:prstGeom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23"/>
          <p:cNvSpPr/>
          <p:nvPr/>
        </p:nvSpPr>
        <p:spPr>
          <a:xfrm>
            <a:off x="5074920" y="357516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89B4FA"/>
                </a:solidFill>
                <a:effectLst/>
                <a:uFillTx/>
                <a:latin typeface="Arial"/>
              </a:rPr>
              <a:t>DATA &amp; REST API CHÍNH (DB.JSON TẬP TRUNG)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0"/>
          <p:cNvSpPr/>
          <p:nvPr/>
        </p:nvSpPr>
        <p:spPr>
          <a:xfrm>
            <a:off x="5074920" y="3840480"/>
            <a:ext cx="6263280" cy="54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Thực thể: movies (11 phim) · cinemas (10 rạp) · showtimes (11 ngày) · concessions (11 món) · vouchers · bookings · users.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Đồng bộ: api.js + storage.js đa tầng (REST API json-server + LocalStorage fallback).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5"/>
          <p:cNvSpPr/>
          <p:nvPr/>
        </p:nvSpPr>
        <p:spPr>
          <a:xfrm>
            <a:off x="5074920" y="4425480"/>
            <a:ext cx="6126480" cy="360"/>
          </a:xfrm>
          <a:prstGeom prst="line">
            <a:avLst/>
          </a:prstGeom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6"/>
          <p:cNvSpPr/>
          <p:nvPr/>
        </p:nvSpPr>
        <p:spPr>
          <a:xfrm>
            <a:off x="5074920" y="4608720"/>
            <a:ext cx="62175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89B4FA"/>
                </a:solidFill>
                <a:effectLst/>
                <a:uFillTx/>
                <a:latin typeface="Arial"/>
              </a:rPr>
              <a:t>LOGIN &amp; ADMIN PORTAL (TRÌNH BÀY NGẮN)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2"/>
          <p:cNvSpPr/>
          <p:nvPr/>
        </p:nvSpPr>
        <p:spPr>
          <a:xfrm>
            <a:off x="5074920" y="4873680"/>
            <a:ext cx="3528000" cy="1008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Phân quyền tài khoản User / Quản trị viên bằng JWT Token bảo mật.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• Dashboard KPI doanh thu &amp; công cụ Soát vé QR tức thì.</a:t>
            </a:r>
            <a:endParaRPr lang="en-US" sz="15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28"/>
          <p:cNvSpPr/>
          <p:nvPr/>
        </p:nvSpPr>
        <p:spPr>
          <a:xfrm>
            <a:off x="5074920" y="5458680"/>
            <a:ext cx="6126480" cy="360"/>
          </a:xfrm>
          <a:prstGeom prst="line">
            <a:avLst/>
          </a:prstGeom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06" name="CardPreviewAdmin"/>
          <p:cNvSpPr/>
          <p:nvPr/>
        </p:nvSpPr>
        <p:spPr>
          <a:xfrm>
            <a:off x="8712000" y="4500000"/>
            <a:ext cx="2664000" cy="1584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pic>
        <p:nvPicPr>
          <p:cNvPr id="107" name="PreviewAdmin"/>
          <p:cNvPicPr/>
          <p:nvPr/>
        </p:nvPicPr>
        <p:blipFill>
          <a:blip r:embed="rId1"/>
          <a:stretch/>
        </p:blipFill>
        <p:spPr>
          <a:xfrm>
            <a:off x="8766000" y="4554000"/>
            <a:ext cx="2556000" cy="1476000"/>
          </a:xfrm>
          <a:prstGeom prst="rect">
            <a:avLst/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89B4FA"/>
          </a:solidFill>
          <a:ln w="12600">
            <a:solidFill>
              <a:srgbClr val="89B4F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89B4F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A6ADC8"/>
                </a:solidFill>
                <a:effectLst/>
                <a:uFillTx/>
                <a:latin typeface="Arial"/>
              </a:rPr>
              <a:t>DEMO     05 / 06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399B2"/>
                </a:solidFill>
                <a:effectLst/>
                <a:uFillTx/>
                <a:latin typeface="Arial"/>
              </a:rPr>
              <a:t>05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89B4FA"/>
                </a:solidFill>
                <a:effectLst/>
                <a:uFillTx/>
                <a:latin typeface="Arial"/>
              </a:rPr>
              <a:t>05 · DEMO · HAPPY PATH 3–5 PHÚT</a:t>
            </a:r>
            <a:endParaRPr lang="en-US" sz="10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CDD6F4"/>
                </a:solidFill>
                <a:effectLst/>
                <a:uFillTx/>
                <a:latin typeface="Arial"/>
              </a:rPr>
              <a:t>Kịch bản demo tinh gọn, tập trung luồng đặt vé chính và minh chứng MVP chạy thực tế.</a:t>
            </a:r>
            <a:endParaRPr lang="en-US" sz="31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14" name="Shape 6"/>
          <p:cNvSpPr/>
          <p:nvPr/>
        </p:nvSpPr>
        <p:spPr>
          <a:xfrm>
            <a:off x="685800" y="251460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7"/>
          <p:cNvSpPr/>
          <p:nvPr/>
        </p:nvSpPr>
        <p:spPr>
          <a:xfrm>
            <a:off x="914400" y="267912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01</a:t>
            </a:r>
            <a:endParaRPr lang="en-US" sz="14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8"/>
          <p:cNvSpPr/>
          <p:nvPr/>
        </p:nvSpPr>
        <p:spPr>
          <a:xfrm>
            <a:off x="1508760" y="265176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Khám phá &amp; Chọn suất: Xem phim đang chiếu, mở trailer YouTube, chọn rạp và suất chiếu.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9"/>
          <p:cNvSpPr/>
          <p:nvPr/>
        </p:nvSpPr>
        <p:spPr>
          <a:xfrm>
            <a:off x="685800" y="322776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0"/>
          <p:cNvSpPr/>
          <p:nvPr/>
        </p:nvSpPr>
        <p:spPr>
          <a:xfrm>
            <a:off x="914400" y="339228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02</a:t>
            </a:r>
            <a:endParaRPr lang="en-US" sz="14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1"/>
          <p:cNvSpPr/>
          <p:nvPr/>
        </p:nvSpPr>
        <p:spPr>
          <a:xfrm>
            <a:off x="1508760" y="336492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Chọn ghế &amp; Giữ chỗ 5p: Chọn ghế trên sơ đồ 164 chỗ; kích hoạt đếm ngược 5 phút chống trùng.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2"/>
          <p:cNvSpPr/>
          <p:nvPr/>
        </p:nvSpPr>
        <p:spPr>
          <a:xfrm>
            <a:off x="685800" y="394092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3"/>
          <p:cNvSpPr/>
          <p:nvPr/>
        </p:nvSpPr>
        <p:spPr>
          <a:xfrm>
            <a:off x="914400" y="410580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03</a:t>
            </a:r>
            <a:endParaRPr lang="en-US" sz="14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4"/>
          <p:cNvSpPr/>
          <p:nvPr/>
        </p:nvSpPr>
        <p:spPr>
          <a:xfrm>
            <a:off x="1508760" y="407808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Bắp nước &amp; Áp Voucher: Chọn combo bắp nước, áp mã (BETA10/BETA50/SV20) tự động chiết khấu.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5"/>
          <p:cNvSpPr/>
          <p:nvPr/>
        </p:nvSpPr>
        <p:spPr>
          <a:xfrm>
            <a:off x="685800" y="4654440"/>
            <a:ext cx="6491880" cy="566640"/>
          </a:xfrm>
          <a:prstGeom prst="roundRect">
            <a:avLst>
              <a:gd name="adj" fmla="val 9677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16"/>
          <p:cNvSpPr/>
          <p:nvPr/>
        </p:nvSpPr>
        <p:spPr>
          <a:xfrm>
            <a:off x="914400" y="4818960"/>
            <a:ext cx="41112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04</a:t>
            </a:r>
            <a:endParaRPr lang="en-US" sz="14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7"/>
          <p:cNvSpPr/>
          <p:nvPr/>
        </p:nvSpPr>
        <p:spPr>
          <a:xfrm>
            <a:off x="1508760" y="4791600"/>
            <a:ext cx="539460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fontScale="85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Thanh toán &amp; Xuất vé QR: Xác nhận thanh toán đa kênh (MoMo/ZaloPay/Thẻ/VietQR); sinh ngay Vé điện tử có mã QR check-in.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18"/>
          <p:cNvSpPr/>
          <p:nvPr/>
        </p:nvSpPr>
        <p:spPr>
          <a:xfrm>
            <a:off x="8001000" y="2788920"/>
            <a:ext cx="3108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900" b="1" u="none" spc="-201" strike="noStrike">
                <a:solidFill>
                  <a:srgbClr val="89B4FA"/>
                </a:solidFill>
                <a:effectLst/>
                <a:uFillTx/>
                <a:latin typeface="Arial"/>
              </a:rPr>
              <a:t>3–5</a:t>
            </a:r>
            <a:endParaRPr lang="en-US" sz="5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19"/>
          <p:cNvSpPr/>
          <p:nvPr/>
        </p:nvSpPr>
        <p:spPr>
          <a:xfrm>
            <a:off x="10241280" y="3493080"/>
            <a:ext cx="91404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pc="99" strike="noStrike">
                <a:solidFill>
                  <a:srgbClr val="CDD6F4"/>
                </a:solidFill>
                <a:effectLst/>
                <a:uFillTx/>
                <a:latin typeface="Arial"/>
              </a:rPr>
              <a:t>PHÚT</a:t>
            </a:r>
            <a:endParaRPr lang="en-US" sz="11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28" name="Card Demo Right"/>
          <p:cNvSpPr/>
          <p:nvPr/>
        </p:nvSpPr>
        <p:spPr>
          <a:xfrm>
            <a:off x="7560000" y="3384000"/>
            <a:ext cx="4104000" cy="2340000"/>
          </a:xfrm>
          <a:prstGeom prst="roundRect">
            <a:avLst>
              <a:gd name="adj" fmla="val 5634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pic>
        <p:nvPicPr>
          <p:cNvPr id="129" name="PreviewBooking"/>
          <p:cNvPicPr/>
          <p:nvPr/>
        </p:nvPicPr>
        <p:blipFill>
          <a:blip r:embed="rId1"/>
          <a:stretch/>
        </p:blipFill>
        <p:spPr>
          <a:xfrm>
            <a:off x="7632000" y="3438000"/>
            <a:ext cx="3960000" cy="2232000"/>
          </a:xfrm>
          <a:prstGeom prst="rect">
            <a:avLst/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</p:pic>
      <p:sp>
        <p:nvSpPr>
          <p:cNvPr id="130" name="CaptionBooking"/>
          <p:cNvSpPr/>
          <p:nvPr/>
        </p:nvSpPr>
        <p:spPr>
          <a:xfrm>
            <a:off x="7560000" y="5760000"/>
            <a:ext cx="410400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89B4FA"/>
                </a:solidFill>
                <a:effectLst/>
                <a:uFillTx/>
                <a:latin typeface="Arial"/>
              </a:rPr>
              <a:t>HAPPY PATH: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Sơ đồ 164 ghế thực tế &amp; Giữ chỗ 5 phút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900" b="0" u="none" strike="noStrike">
                <a:solidFill>
                  <a:srgbClr val="A6ADC8"/>
                </a:solidFill>
                <a:effectLst/>
                <a:uFillTx/>
                <a:latin typeface="Arial"/>
              </a:rPr>
              <a:t>Demo thêm: Thẻ thành viên 3D · Trang Profile tra cứu vé · Admin soát vé QR &amp; 8 Tabs quản lý (56/56 Tests PASS)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0" y="0"/>
            <a:ext cx="12191400" cy="63720"/>
          </a:xfrm>
          <a:prstGeom prst="rect">
            <a:avLst/>
          </a:prstGeom>
          <a:solidFill>
            <a:srgbClr val="89B4FA"/>
          </a:solidFill>
          <a:ln w="12600">
            <a:solidFill>
              <a:srgbClr val="89B4FA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19080" rIns="90000" bIns="19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502920" y="274320"/>
            <a:ext cx="21027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0" strike="noStrike">
                <a:solidFill>
                  <a:srgbClr val="89B4FA"/>
                </a:solidFill>
                <a:effectLst/>
                <a:uFillTx/>
                <a:latin typeface="Arial"/>
              </a:rPr>
              <a:t>BETA CINEMAS</a:t>
            </a:r>
            <a:endParaRPr lang="en-US" sz="10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"/>
          <p:cNvSpPr/>
          <p:nvPr/>
        </p:nvSpPr>
        <p:spPr>
          <a:xfrm>
            <a:off x="8229600" y="274320"/>
            <a:ext cx="34286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pc="99" strike="noStrike">
                <a:solidFill>
                  <a:srgbClr val="A6ADC8"/>
                </a:solidFill>
                <a:effectLst/>
                <a:uFillTx/>
                <a:latin typeface="Arial"/>
              </a:rPr>
              <a:t>TEAM &amp; GIT     06 / 06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11155680" y="6510600"/>
            <a:ext cx="4111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9399B2"/>
                </a:solidFill>
                <a:effectLst/>
                <a:uFillTx/>
                <a:latin typeface="Arial"/>
              </a:rPr>
              <a:t>06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4"/>
          <p:cNvSpPr/>
          <p:nvPr/>
        </p:nvSpPr>
        <p:spPr>
          <a:xfrm>
            <a:off x="594360" y="777240"/>
            <a:ext cx="54860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159" strike="noStrike">
                <a:solidFill>
                  <a:srgbClr val="89B4FA"/>
                </a:solidFill>
                <a:effectLst/>
                <a:uFillTx/>
                <a:latin typeface="Arial"/>
              </a:rPr>
              <a:t>06 · TEAM &amp; GIT</a:t>
            </a:r>
            <a:endParaRPr lang="en-US" sz="10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594360" y="1097280"/>
            <a:ext cx="109724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pc="-51" strike="noStrike">
                <a:solidFill>
                  <a:srgbClr val="CDD6F4"/>
                </a:solidFill>
                <a:effectLst/>
                <a:uFillTx/>
                <a:latin typeface="Arial"/>
              </a:rPr>
              <a:t>Phân công nhiệm vụ rõ ràng, quản lý mã nguồn chặt chẽ và định hướng phát triển.</a:t>
            </a:r>
            <a:endParaRPr lang="en-US" sz="31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37" name="Shape 6"/>
          <p:cNvSpPr/>
          <p:nvPr/>
        </p:nvSpPr>
        <p:spPr>
          <a:xfrm>
            <a:off x="594360" y="2423160"/>
            <a:ext cx="5531760" cy="3492000"/>
          </a:xfrm>
          <a:prstGeom prst="roundRect">
            <a:avLst>
              <a:gd name="adj" fmla="val 2162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813960" y="2624400"/>
            <a:ext cx="5092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CDD6F4"/>
                </a:solidFill>
                <a:effectLst/>
                <a:uFillTx/>
                <a:latin typeface="Arial"/>
              </a:rPr>
              <a:t>AI LÀM GÌ &amp; ĐÓNG GÓP TỪNG THÀNH VIÊN</a:t>
            </a:r>
            <a:endParaRPr lang="en-US" sz="14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8"/>
          <p:cNvSpPr/>
          <p:nvPr/>
        </p:nvSpPr>
        <p:spPr>
          <a:xfrm>
            <a:off x="83196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1115640" y="3090600"/>
            <a:ext cx="47545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Nguyễn Văn Trọng — Leader &amp; Architect: Kiến trúc 14 trang MPA, Router &amp; REST API, Bun runtime, Vercel Serverless.</a:t>
            </a:r>
            <a:endParaRPr lang="en-US" sz="11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0"/>
          <p:cNvSpPr/>
          <p:nvPr/>
        </p:nvSpPr>
        <p:spPr>
          <a:xfrm>
            <a:off x="831960" y="382212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1"/>
          <p:cNvSpPr/>
          <p:nvPr/>
        </p:nvSpPr>
        <p:spPr>
          <a:xfrm>
            <a:off x="1115640" y="3822120"/>
            <a:ext cx="47545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Vũ Tiến Lập (PH65133) — Frontend &amp; QA Lead: Module Checkout, bắp nước, Bảng giá vé, Tin tức, Cụm rạp, Bộ test 56/56.</a:t>
            </a:r>
            <a:endParaRPr lang="en-US" sz="11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 12"/>
          <p:cNvSpPr/>
          <p:nvPr/>
        </p:nvSpPr>
        <p:spPr>
          <a:xfrm>
            <a:off x="831960" y="455364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115640" y="4553640"/>
            <a:ext cx="47545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Phạm Anh Duy (PH65717) — Feature Lead &amp; Integrator: Sơ đồ 164 ghế &amp; đếm ngược 5p, Hệ thống Voucher, Thẻ thành viên 3D, Cổng Admin QR.</a:t>
            </a:r>
            <a:endParaRPr lang="en-US" sz="11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914400" y="5166360"/>
            <a:ext cx="155412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A6ADC8"/>
                </a:solidFill>
                <a:effectLst/>
                <a:uFillTx/>
                <a:latin typeface="Arial"/>
              </a:rPr>
              <a:t>GitHub repository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5"/>
          <p:cNvSpPr/>
          <p:nvPr/>
        </p:nvSpPr>
        <p:spPr>
          <a:xfrm>
            <a:off x="914400" y="5413320"/>
            <a:ext cx="4754520" cy="22824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sng" strike="noStrike">
                <a:solidFill>
                  <a:srgbClr val="89B4FA"/>
                </a:solidFill>
                <a:effectLst/>
                <a:uFillTx/>
                <a:latin typeface="Arial"/>
                <a:hlinkClick r:id="rId1"/>
              </a:rPr>
              <a:t>github.com/AsakiYuki/web2064-fa26</a:t>
            </a:r>
            <a:r>
              <a:rPr lang="en-US" sz="900" b="0" u="none" strike="noStrike">
                <a:solidFill>
                  <a:srgbClr val="A6ADC8"/>
                </a:solidFill>
                <a:effectLst/>
                <a:uFillTx/>
                <a:latin typeface="Arial"/>
              </a:rPr>
              <a:t> (Conventional Commits, 100% mã nguồn)</a:t>
            </a:r>
            <a:endParaRPr lang="en-US" sz="9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6"/>
          <p:cNvSpPr/>
          <p:nvPr/>
        </p:nvSpPr>
        <p:spPr>
          <a:xfrm>
            <a:off x="6355080" y="2423160"/>
            <a:ext cx="5230080" cy="3492000"/>
          </a:xfrm>
          <a:prstGeom prst="roundRect">
            <a:avLst>
              <a:gd name="adj" fmla="val 2162"/>
            </a:avLst>
          </a:prstGeom>
          <a:solidFill>
            <a:srgbClr val="313244"/>
          </a:solidFill>
          <a:ln w="12600">
            <a:solidFill>
              <a:srgbClr val="45475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7"/>
          <p:cNvSpPr/>
          <p:nvPr/>
        </p:nvSpPr>
        <p:spPr>
          <a:xfrm>
            <a:off x="6574680" y="2624400"/>
            <a:ext cx="47912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CDD6F4"/>
                </a:solidFill>
                <a:effectLst/>
                <a:uFillTx/>
                <a:latin typeface="Arial"/>
              </a:rPr>
              <a:t>KHÓ KHĂN LỚN NHẤT &amp; CÁCH GIẢI QUYẾT</a:t>
            </a:r>
            <a:endParaRPr lang="en-US" sz="14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8"/>
          <p:cNvSpPr/>
          <p:nvPr/>
        </p:nvSpPr>
        <p:spPr>
          <a:xfrm>
            <a:off x="6592680" y="309060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9"/>
          <p:cNvSpPr/>
          <p:nvPr/>
        </p:nvSpPr>
        <p:spPr>
          <a:xfrm>
            <a:off x="6876360" y="3090600"/>
            <a:ext cx="445284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Khó khăn: Đồng bộ trạng thái giữ ghế thời gian thực giữa json-server, cache client và Vercel Serverless (read-only filesystem).</a:t>
            </a:r>
            <a:endParaRPr lang="en-US" sz="11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6592680" y="3822120"/>
            <a:ext cx="2008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</a:t>
            </a:r>
            <a:endParaRPr lang="en-US" sz="13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1"/>
          <p:cNvSpPr/>
          <p:nvPr/>
        </p:nvSpPr>
        <p:spPr>
          <a:xfrm>
            <a:off x="6876360" y="3822120"/>
            <a:ext cx="445284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Cách xử lý: Kiến trúc Hybrid Storage (api.js + storage.js) đa tầng kèm cơ chế sao chép database tạm vào /tmp trên Vercel.</a:t>
            </a:r>
            <a:endParaRPr lang="en-US" sz="11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53" name="Title Next Steps"/>
          <p:cNvSpPr/>
          <p:nvPr/>
        </p:nvSpPr>
        <p:spPr>
          <a:xfrm>
            <a:off x="6574680" y="4500000"/>
            <a:ext cx="4791240" cy="23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pc="40" strike="noStrike">
                <a:solidFill>
                  <a:srgbClr val="CDD6F4"/>
                </a:solidFill>
                <a:effectLst/>
                <a:uFillTx/>
                <a:latin typeface="Arial"/>
              </a:rPr>
              <a:t>KẾ HOẠCH GIAI ĐOẠN TIẾP THEO</a:t>
            </a:r>
            <a:endParaRPr lang="en-US" sz="140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  <p:sp>
        <p:nvSpPr>
          <p:cNvPr id="154" name="Body Next Steps"/>
          <p:cNvSpPr/>
          <p:nvPr/>
        </p:nvSpPr>
        <p:spPr>
          <a:xfrm>
            <a:off x="6574680" y="4770000"/>
            <a:ext cx="4791240" cy="900000"/>
          </a:xfr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Tích hợp cổng thanh toán trực tiếp qua Webhook VNPAY / MoMo thực tế.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Phát triển ứng dụng di động (PWA) và tự động gửi vé qua Zalo ZNS / SMS.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9B4FA"/>
                </a:solidFill>
                <a:effectLst/>
                <a:uFillTx/>
                <a:latin typeface="Arial"/>
              </a:rPr>
              <a:t>• </a:t>
            </a:r>
            <a:r>
              <a:rPr lang="en-US" sz="1050" b="0" u="none" strike="noStrike">
                <a:solidFill>
                  <a:srgbClr val="CDD6F4"/>
                </a:solidFill>
                <a:effectLst/>
                <a:uFillTx/>
                <a:latin typeface="Arial"/>
              </a:rPr>
              <a:t>Quản lý động sơ đồ phòng chiếu &amp; chiến dịch ưu đãi giờ vàng trên Admin.</a:t>
            </a:r>
            <a:endParaRPr lang="en-US" sz="1050" b="0" u="none" strike="noStrike">
              <a:solidFill>
                <a:srgbClr val="CDD6F4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LibreOffice/26.2.1.2$Linux_X86_64 LibreOffice_project/620$Build-2</Application>
  <AppVersion>15.0000</AppVersion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2026-10-01T12:08:08Z</dcterms:created>
  <dc:creator>WEB2064</dc:creator>
  <dc:description/>
  <dc:language>en-US</dc:language>
  <cp:lastModifiedBy/>
  <dcterms:modified xsi:type="dcterms:W3CDTF">2026-10-02T10:56:45Z</dcterms:modified>
  <cp:revision>4</cp:revision>
  <dc:subject>Website đặt vé xem phim</dc:subject>
  <dc:title>Beta Cinemas — Thuyết trình dự án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6</vt:r8>
  </property>
  <property fmtid="{D5CDD505-2E9C-101B-9397-08002B2CF9AE}" pid="3" name="PresentationFormat">
    <vt:lpwstr>On-screen Show (16:9)</vt:lpwstr>
  </property>
  <property fmtid="{D5CDD505-2E9C-101B-9397-08002B2CF9AE}" pid="4" name="Slides">
    <vt:r8>6</vt:r8>
  </property>
</Properties>
</file>