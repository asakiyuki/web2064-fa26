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1D2A"/>
                </a:solidFill>
              </a:rPr>
              <a:t>BETA CINEMAS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0" y="27432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PROJECT     01 / 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052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51D2A"/>
                </a:solidFill>
              </a:rPr>
              <a:t>PROJECT · WEBSITE ĐẶT VÉ XEM PHIM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8869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171923"/>
                </a:solidFill>
              </a:rPr>
              <a:t>Beta Cinemas</a:t>
            </a:r>
            <a:endParaRPr lang="en-US" sz="4200" dirty="0"/>
          </a:p>
          <a:p>
            <a:pPr indent="0" marL="0">
              <a:buNone/>
            </a:pPr>
            <a:r>
              <a:rPr lang="en-US" sz="4200" b="1" spc="-100" kern="0" dirty="0">
                <a:solidFill>
                  <a:srgbClr val="171923"/>
                </a:solidFill>
              </a:rPr>
              <a:t>Đặt vé gọn. Đi xem vui.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" y="33375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55B67"/>
                </a:solidFill>
              </a:rPr>
              <a:t>Giúp khán giả tra cứu phim, lịch chiếu và đặt vé trực tuyến trong một trải nghiệm liền mạch.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27432" cy="914400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4617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VẤN ĐỀ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4910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1923"/>
                </a:solidFill>
              </a:rPr>
              <a:t>Tra cứu, chọn suất và đặt vé còn rời rạc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4617720"/>
            <a:ext cx="27432" cy="914400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4617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ĐỐI TƯỢNG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35424" y="4910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1923"/>
                </a:solidFill>
              </a:rPr>
              <a:t>Khán giả xem phim · nhân viên quản trị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4617720"/>
            <a:ext cx="27432" cy="914400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4617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NHÓM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38744" y="4910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1923"/>
                </a:solidFill>
              </a:rPr>
              <a:t>Nguyễn Văn Trọng · Vũ Tiến Lập · Phạm Anh Duy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1D2A"/>
                </a:solidFill>
              </a:rPr>
              <a:t>BETA CINEMAS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0" y="27432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CHỨC NĂNG CHÍNH     02 / 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052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772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51D2A"/>
                </a:solidFill>
              </a:rPr>
              <a:t>02 · CHỨC NĂNG CHÍNH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97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spc="-50" kern="0" dirty="0">
                <a:solidFill>
                  <a:srgbClr val="171923"/>
                </a:solidFill>
              </a:rPr>
              <a:t>Những gì nhóm đã xây dựng.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594360" y="2468880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944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Khám phá phim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Phim đang chiếu, sắp chiếu, suất đặc biệt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25112" y="2468880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2624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07992" y="2944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Tìm kiếm &amp; lọc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07992" y="3291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Tên, thể loại, định dạng, độ tuổi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2468880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38744" y="2624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38744" y="2944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Lịch chiếu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38744" y="3291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Chọn cụm rạp, ngày và suất chiếu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3950208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056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4256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Chọn ghế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47731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Standard, VIP, ghế đôi; giữ ghế 5 phút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950208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41056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07992" y="44256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Combo &amp; voucher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07992" y="47731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Chọn đồ ăn, áp mã, tính lại tổng tiền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950208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38744" y="41056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38744" y="44256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Thanh toán &amp; vé QR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38744" y="47731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Thanh toán mô phỏng, xuất vé điện tử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94360" y="5431536"/>
            <a:ext cx="3493008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5869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1D2A"/>
                </a:solidFill>
              </a:rPr>
              <a:t>07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" y="590702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923"/>
                </a:solidFill>
              </a:rPr>
              <a:t>Tài khoản &amp; Admin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77240" y="625449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47985"/>
                </a:solidFill>
              </a:rPr>
              <a:t>Hồ sơ, lịch sử vé, quản trị nội dung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4F2E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0" y="0"/>
            <ns1:ext cx="12191695" cy="64008"/>
          </ns1:xfrm>
          <ns1:prstGeom prst="rect">
            <ns1:avLst/>
          </ns1:prstGeom>
          <ns1:solidFill>
            <ns1:srgbClr val="E51D2A"/>
          </ns1:solidFill>
          <ns1:ln w="12700">
            <ns1:solidFill>
              <ns1:srgbClr val="E51D2A">
                <ns1:alpha val="0"/>
              </ns1:srgbClr>
            </ns1:solidFill>
            <ns1:prstDash val="solid"/>
          </ns1:ln>
        </ns0:spPr>
      </ns0:sp>
      <ns0:sp>
        <ns0:nvSpPr>
          <ns0:cNvPr id="3" name="Text 1"/>
          <ns0:cNvSpPr/>
          <ns0:nvPr/>
        </ns0:nvSpPr>
        <ns0:spPr>
          <ns1:xfrm>
            <ns1:off x="502920" y="274320"/>
            <ns1:ext cx="21031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50" kern="0" dirty="0">
                <ns1:solidFill>
                  <ns1:srgbClr val="E51D2A"/>
                </ns1:solidFill>
              </ns1:rPr>
              <ns1:t>BETA CINEMAS</ns1:t>
            </ns1:r>
            <ns1:endParaRPr lang="en-US" sz="10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8229600" y="274320"/>
            <ns1:ext cx="34290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b="1" spc="100" kern="0" dirty="0">
                <ns1:solidFill>
                  <ns1:srgbClr val="747985"/>
                </ns1:solidFill>
              </ns1:rPr>
              <ns1:t>MVP     03 / 06</ns1:t>
            </ns1:r>
            <ns1:endParaRPr lang="en-US" sz="900" dirty="0"/>
          </ns1:p>
        </ns0:txBody>
      </ns0:sp>
      <ns0:sp>
        <ns0:nvSpPr>
          <ns0:cNvPr id="5" name="Text 3"/>
          <ns0:cNvSpPr/>
          <ns0:nvPr/>
        </ns0:nvSpPr>
        <ns0:spPr>
          <ns1:xfrm>
            <ns1:off x="11155680" y="6510528"/>
            <ns1:ext cx="411480" cy="137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dirty="0">
                <ns1:solidFill>
                  <ns1:srgbClr val="999999"/>
                </ns1:solidFill>
              </ns1:rPr>
              <ns1:t>03</ns1:t>
            </ns1:r>
            <ns1:endParaRPr lang="en-US" sz="900" dirty="0"/>
          </ns1:p>
        </ns0:txBody>
      </ns0:sp>
      <ns0:sp>
        <ns0:nvSpPr>
          <ns0:cNvPr id="6" name="Text 4"/>
          <ns0:cNvSpPr/>
          <ns0:nvPr/>
        </ns0:nvSpPr>
        <ns0:spPr>
          <ns1:xfrm>
            <ns1:off x="594360" y="777240"/>
            <ns1:ext cx="54864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60" kern="0" dirty="0">
                <ns1:solidFill>
                  <ns1:srgbClr val="E51D2A"/>
                </ns1:solidFill>
              </ns1:rPr>
              <ns1:t>03 · MVP</ns1:t>
            </ns1:r>
            <ns1:endParaRPr lang="en-US" sz="1000" dirty="0"/>
          </ns1:p>
        </ns0:txBody>
      </ns0:sp>
      <ns0:sp>
        <ns0:nvSpPr>
          <ns0:cNvPr id="7" name="Text 5"/>
          <ns0:cNvSpPr/>
          <ns0:nvPr/>
        </ns0:nvSpPr>
        <ns0:spPr>
          <ns1:xfrm>
            <ns1:off x="594360" y="1097280"/>
            <ns1:ext cx="10972800" cy="10972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3100" b="1" spc="-50" kern="0" dirty="0">
                <ns1:solidFill>
                  <ns1:srgbClr val="171923"/>
                </ns1:solidFill>
              </ns1:rPr>
              <ns1:t>Hoàn thành 100% chức năng MVP &amp; tích hợp Backend.</ns1:t>
            </ns1:r>
            <ns1:endParaRPr lang="en-US" sz="3100" dirty="0"/>
          </ns1:p>
        </ns0:txBody>
      </ns0:sp>
      <ns0:sp>
        <ns0:nvSpPr>
          <ns0:cNvPr id="8" name="Shape 6"/>
          <ns0:cNvSpPr/>
          <ns0:nvPr/>
        </ns0:nvSpPr>
        <ns0:spPr>
          <ns1:xfrm>
            <ns1:off x="594360" y="2423160"/>
            <ns1:ext cx="5349240" cy="3246120"/>
          </ns1:xfrm>
          <ns1:prstGeom prst="roundRect">
            <ns1:avLst>
              <ns1:gd name="adj" fmla="val 2254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9" name="Text 7"/>
          <ns0:cNvSpPr/>
          <ns0:nvPr/>
        </ns0:nvSpPr>
        <ns0:spPr>
          <ns1:xfrm>
            <ns1:off x="813816" y="2624328"/>
            <ns1:ext cx="4910328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400" b="1" spc="40" kern="0" dirty="0">
                <ns1:solidFill>
                  <ns1:srgbClr val="171923"/>
                </ns1:solidFill>
              </ns1:rPr>
              <ns1:t>ĐÃ HOÀN THÀNH (MVP &amp; BACKEND)</ns1:t>
            </ns1:r>
            <ns1:endParaRPr lang="en-US" sz="140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832104" y="309067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1" name="Text 9"/>
          <ns0:cNvSpPr/>
          <ns0:nvPr/>
        </ns0:nvSpPr>
        <ns0:spPr>
          <ns1:xfrm>
            <ns1:off x="1115568" y="3090672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50" dirty="0">
                <ns1:solidFill>
                  <ns1:srgbClr val="171923"/>
                </ns1:solidFill>
              </ns1:rPr>
              <ns1:t>Khám phá, tìm kiếm, lọc, chi tiết phim &amp; trailer</ns1:t>
            </ns1:r>
            <ns1:endParaRPr lang="en-US" sz="1050" dirty="0"/>
          </ns1:p>
        </ns0:txBody>
      </ns0:sp>
      <ns0:sp>
        <ns0:nvSpPr>
          <ns0:cNvPr id="12" name="Text 10"/>
          <ns0:cNvSpPr/>
          <ns0:nvPr/>
        </ns0:nvSpPr>
        <ns0:spPr>
          <ns1:xfrm>
            <ns1:off x="832104" y="3538728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3" name="Text 11"/>
          <ns0:cNvSpPr/>
          <ns0:nvPr/>
        </ns0:nvSpPr>
        <ns0:spPr>
          <ns1:xfrm>
            <ns1:off x="1115568" y="3538728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50" dirty="0">
                <ns1:solidFill>
                  <ns1:srgbClr val="171923"/>
                </ns1:solidFill>
              </ns1:rPr>
              <ns1:t>Lịch chiếu, sơ đồ chọn ghế, đồng hồ giữ ghế 5 phút</ns1:t>
            </ns1:r>
            <ns1:endParaRPr lang="en-US" sz="1050" dirty="0"/>
          </ns1:p>
        </ns0:txBody>
      </ns0:sp>
      <ns0:sp>
        <ns0:nvSpPr>
          <ns0:cNvPr id="14" name="Text 12"/>
          <ns0:cNvSpPr/>
          <ns0:nvPr/>
        </ns0:nvSpPr>
        <ns0:spPr>
          <ns1:xfrm>
            <ns1:off x="832104" y="3986784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5" name="Text 13"/>
          <ns0:cNvSpPr/>
          <ns0:nvPr/>
        </ns0:nvSpPr>
        <ns0:spPr>
          <ns1:xfrm>
            <ns1:off x="1115568" y="3986784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50" dirty="0">
                <ns1:solidFill>
                  <ns1:srgbClr val="171923"/>
                </ns1:solidFill>
              </ns1:rPr>
              <ns1:t>Combo bắp nước, mã giảm giá voucher, thanh toán mô phỏng</ns1:t>
            </ns1:r>
            <ns1:endParaRPr lang="en-US" sz="1050" dirty="0"/>
          </ns1:p>
        </ns0:txBody>
      </ns0:sp>
      <ns0:sp>
        <ns0:nvSpPr>
          <ns0:cNvPr id="16" name="Text 14"/>
          <ns0:cNvSpPr/>
          <ns0:nvPr/>
        </ns0:nvSpPr>
        <ns0:spPr>
          <ns1:xfrm>
            <ns1:off x="832104" y="4434840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7" name="Text 15"/>
          <ns0:cNvSpPr/>
          <ns0:nvPr/>
        </ns0:nvSpPr>
        <ns0:spPr>
          <ns1:xfrm>
            <ns1:off x="1115568" y="4434840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50" dirty="0">
                <ns1:solidFill>
                  <ns1:srgbClr val="171923"/>
                </ns1:solidFill>
              </ns1:rPr>
              <ns1:t>Vé điện tử QR code, quản lý hồ sơ và lịch sử đặt vé</ns1:t>
            </ns1:r>
            <ns1:endParaRPr lang="en-US" sz="1050" dirty="0"/>
          </ns1:p>
        </ns0:txBody>
      </ns0:sp>
      <ns0:sp>
        <ns0:nvSpPr>
          <ns0:cNvPr id="18" name="Text 16"/>
          <ns0:cNvSpPr/>
          <ns0:nvPr/>
        </ns0:nvSpPr>
        <ns0:spPr>
          <ns1:xfrm>
            <ns1:off x="832104" y="4882896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9" name="Text 17"/>
          <ns0:cNvSpPr/>
          <ns0:nvPr/>
        </ns0:nvSpPr>
        <ns0:spPr>
          <ns1:xfrm>
            <ns1:off x="1115568" y="4882896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50" dirty="0">
                <ns1:solidFill>
                  <ns1:srgbClr val="171923"/>
                </ns1:solidFill>
              </ns1:rPr>
              <ns1:t>Backend json-server: Full CRUD phim, lịch chiếu, combo, đơn vé</ns1:t>
            </ns1:r>
            <ns1:endParaRPr lang="en-US" sz="1050" dirty="0"/>
          </ns1:p>
        </ns0:txBody>
      </ns0:sp>
      <ns0:sp>
        <ns0:nvSpPr>
          <ns0:cNvPr id="20" name="Shape 18"/>
          <ns0:cNvSpPr/>
          <ns0:nvPr/>
        </ns0:nvSpPr>
        <ns0:spPr>
          <ns1:xfrm>
            <ns1:off x="6236208" y="2423160"/>
            <ns1:ext cx="5349240" cy="3246120"/>
          </ns1:xfrm>
          <ns1:prstGeom prst="roundRect">
            <ns1:avLst>
              <ns1:gd name="adj" fmla="val 2254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21" name="Text 19"/>
          <ns0:cNvSpPr/>
          <ns0:nvPr/>
        </ns0:nvSpPr>
        <ns0:spPr>
          <ns1:xfrm>
            <ns1:off x="6455664" y="2624328"/>
            <ns1:ext cx="4910328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400" b="1" spc="40" kern="0" dirty="0">
                <ns1:solidFill>
                  <ns1:srgbClr val="171923"/>
                </ns1:solidFill>
              </ns1:rPr>
              <ns1:t>ĐÃ TÍCH HỢP &amp; GIAI ĐOẠN TIẾP THEO</ns1:t>
            </ns1:r>
            <ns1:endParaRPr lang="en-US" sz="1400" dirty="0"/>
          </ns1:p>
        </ns0:txBody>
      </ns0:sp>
      <ns0:sp>
        <ns0:nvSpPr>
          <ns0:cNvPr id="22" name="Text 20"/>
          <ns0:cNvSpPr/>
          <ns0:nvPr/>
        </ns0:nvSpPr>
        <ns0:spPr>
          <ns1:xfrm>
            <ns1:off x="6473952" y="309067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3" name="Text 21"/>
          <ns0:cNvSpPr/>
          <ns0:nvPr/>
        </ns0:nvSpPr>
        <ns0:spPr>
          <ns1:xfrm>
            <ns1:off x="6757416" y="3090672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json-server-auth: Đăng ký, Đăng nhập (email/SĐT), cấp JWT</ns1:t>
            </ns1:r>
            <ns1:endParaRPr lang="en-US" sz="1100" dirty="0"/>
          </ns1:p>
        </ns0:txBody>
      </ns0:sp>
      <ns0:sp>
        <ns0:nvSpPr>
          <ns0:cNvPr id="24" name="Text 22"/>
          <ns0:cNvSpPr/>
          <ns0:nvPr/>
        </ns0:nvSpPr>
        <ns0:spPr>
          <ns1:xfrm>
            <ns1:off x="6473952" y="3602736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5" name="Text 23"/>
          <ns0:cNvSpPr/>
          <ns0:nvPr/>
        </ns0:nvSpPr>
        <ns0:spPr>
          <ns1:xfrm>
            <ns1:off x="6757416" y="3602736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Bun Runtime: Tối ưu hóa tốc độ build và thực thi cực nhanh</ns1:t>
            </ns1:r>
            <ns1:endParaRPr lang="en-US" sz="1100" dirty="0"/>
          </ns1:p>
        </ns0:txBody>
      </ns0:sp>
      <ns0:sp>
        <ns0:nvSpPr>
          <ns0:cNvPr id="26" name="Text 24"/>
          <ns0:cNvSpPr/>
          <ns0:nvPr/>
        </ns0:nvSpPr>
        <ns0:spPr>
          <ns1:xfrm>
            <ns1:off x="6473952" y="4114800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7" name="Text 25"/>
          <ns0:cNvSpPr/>
          <ns0:nvPr/>
        </ns0:nvSpPr>
        <ns0:spPr>
          <ns1:xfrm>
            <ns1:off x="6757416" y="4114800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Kiểm thử toàn diện: Bộ test tự động 26/26 use case đạt 100% PASS</ns1:t>
            </ns1:r>
            <ns1:endParaRPr lang="en-US" sz="1100" dirty="0"/>
          </ns1:p>
        </ns0:txBody>
      </ns0:sp>
      <ns0:sp>
        <ns0:nvSpPr>
          <ns0:cNvPr id="28" name="Text 26"/>
          <ns0:cNvSpPr/>
          <ns0:nvPr/>
        </ns0:nvSpPr>
        <ns0:spPr>
          <ns1:xfrm>
            <ns1:off x="6473952" y="4626864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9" name="Text 27"/>
          <ns0:cNvSpPr/>
          <ns0:nvPr/>
        </ns0:nvSpPr>
        <ns0:spPr>
          <ns1:xfrm>
            <ns1:off x="6757416" y="4626864"/>
            <ns1:ext cx="4572000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Tiếp theo: Tích hợp cổng thanh toán Sandbox thực tế (VNPAY/MoMo)</ns1:t>
            </ns1:r>
            <ns1:endParaRPr lang="en-US" sz="1100" dirty="0"/>
          </ns1:p>
        </ns0:txBody>
      </ns0:sp>
      <ns0:sp>
        <ns0:nvSpPr>
          <ns0:cNvPr id="30" name="Text 28"/>
          <ns0:cNvSpPr/>
          <ns0:nvPr/>
        </ns0:nvSpPr>
        <ns0:spPr>
          <ns1:xfrm>
            <ns1:off x="658368" y="5870448"/>
            <ns1:ext cx="10881360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747985"/>
                </ns1:solidFill>
              </ns1:rPr>
              <ns1:t>Toàn bộ đầu việc đã hoàn thành xuất sắc và refactor thành công sang json-server + json-server-auth trên Bun.</ns1:t>
            </ns1:r>
            <ns1:endParaRPr lang="en-US" sz="900" dirty="0"/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 name="Slide 4">
    <ns0:bg>
      <ns0:bgPr>
        <ns1:solidFill>
          <ns1:srgbClr val="F4F2E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0" y="0"/>
            <ns1:ext cx="12191695" cy="64008"/>
          </ns1:xfrm>
          <ns1:prstGeom prst="rect">
            <ns1:avLst/>
          </ns1:prstGeom>
          <ns1:solidFill>
            <ns1:srgbClr val="E51D2A"/>
          </ns1:solidFill>
          <ns1:ln w="12700">
            <ns1:solidFill>
              <ns1:srgbClr val="E51D2A">
                <ns1:alpha val="0"/>
              </ns1:srgbClr>
            </ns1:solidFill>
            <ns1:prstDash val="solid"/>
          </ns1:ln>
        </ns0:spPr>
      </ns0:sp>
      <ns0:sp>
        <ns0:nvSpPr>
          <ns0:cNvPr id="3" name="Text 1"/>
          <ns0:cNvSpPr/>
          <ns0:nvPr/>
        </ns0:nvSpPr>
        <ns0:spPr>
          <ns1:xfrm>
            <ns1:off x="502920" y="274320"/>
            <ns1:ext cx="21031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50" kern="0" dirty="0">
                <ns1:solidFill>
                  <ns1:srgbClr val="E51D2A"/>
                </ns1:solidFill>
              </ns1:rPr>
              <ns1:t>BETA CINEMAS</ns1:t>
            </ns1:r>
            <ns1:endParaRPr lang="en-US" sz="10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8229600" y="274320"/>
            <ns1:ext cx="34290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b="1" spc="100" kern="0" dirty="0">
                <ns1:solidFill>
                  <ns1:srgbClr val="747985"/>
                </ns1:solidFill>
              </ns1:rPr>
              <ns1:t>SOLUTION     04 / 06</ns1:t>
            </ns1:r>
            <ns1:endParaRPr lang="en-US" sz="900" dirty="0"/>
          </ns1:p>
        </ns0:txBody>
      </ns0:sp>
      <ns0:sp>
        <ns0:nvSpPr>
          <ns0:cNvPr id="5" name="Text 3"/>
          <ns0:cNvSpPr/>
          <ns0:nvPr/>
        </ns0:nvSpPr>
        <ns0:spPr>
          <ns1:xfrm>
            <ns1:off x="11155680" y="6510528"/>
            <ns1:ext cx="411480" cy="137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dirty="0">
                <ns1:solidFill>
                  <ns1:srgbClr val="999999"/>
                </ns1:solidFill>
              </ns1:rPr>
              <ns1:t>04</ns1:t>
            </ns1:r>
            <ns1:endParaRPr lang="en-US" sz="900" dirty="0"/>
          </ns1:p>
        </ns0:txBody>
      </ns0:sp>
      <ns0:sp>
        <ns0:nvSpPr>
          <ns0:cNvPr id="6" name="Text 4"/>
          <ns0:cNvSpPr/>
          <ns0:nvPr/>
        </ns0:nvSpPr>
        <ns0:spPr>
          <ns1:xfrm>
            <ns1:off x="594360" y="777240"/>
            <ns1:ext cx="54864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60" kern="0" dirty="0">
                <ns1:solidFill>
                  <ns1:srgbClr val="E51D2A"/>
                </ns1:solidFill>
              </ns1:rPr>
              <ns1:t>04 · SOLUTION</ns1:t>
            </ns1:r>
            <ns1:endParaRPr lang="en-US" sz="1000" dirty="0"/>
          </ns1:p>
        </ns0:txBody>
      </ns0:sp>
      <ns0:sp>
        <ns0:nvSpPr>
          <ns0:cNvPr id="7" name="Text 5"/>
          <ns0:cNvSpPr/>
          <ns0:nvPr/>
        </ns0:nvSpPr>
        <ns0:spPr>
          <ns1:xfrm>
            <ns1:off x="594360" y="1097280"/>
            <ns1:ext cx="10972800" cy="10972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3100" b="1" spc="-50" kern="0" dirty="0">
                <ns1:solidFill>
                  <ns1:srgbClr val="171923"/>
                </ns1:solidFill>
              </ns1:rPr>
              <ns1:t>Kiến trúc kết hợp Vite MPA, json-server CRUD và json-server-auth.</ns1:t>
            </ns1:r>
            <ns1:endParaRPr lang="en-US" sz="3100" dirty="0"/>
          </ns1:p>
        </ns0:txBody>
      </ns0:sp>
      <ns0:sp>
        <ns0:nvSpPr>
          <ns0:cNvPr id="8" name="Shape 6"/>
          <ns0:cNvSpPr/>
          <ns0:nvPr/>
        </ns0:nvSpPr>
        <ns0:spPr>
          <ns1:xfrm>
            <ns1:off x="685800" y="2514600"/>
            <ns1:ext cx="1920240" cy="804672"/>
          </ns1:xfrm>
          <ns1:prstGeom prst="roundRect">
            <ns1:avLst>
              <ns1:gd name="adj" fmla="val 9091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9" name="Text 7"/>
          <ns0:cNvSpPr/>
          <ns0:nvPr/>
        </ns0:nvSpPr>
        <ns0:spPr>
          <ns1:xfrm>
            <ns1:off x="813816" y="2642616"/>
            <ns1:ext cx="1691640" cy="2103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HTML5 / SCSS</ns1:t>
            </ns1:r>
            <ns1:endParaRPr lang="en-US" sz="130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813816" y="2953512"/>
            <ns1:ext cx="1664208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747985"/>
                </ns1:solidFill>
              </ns1:rPr>
              <ns1:t>Giao diện đa trang (MPA), responsive Mobile/PC</ns1:t>
            </ns1:r>
            <ns1:endParaRPr lang="en-US" sz="900" dirty="0"/>
          </ns1:p>
        </ns0:txBody>
      </ns0:sp>
      <ns0:sp>
        <ns0:nvSpPr>
          <ns0:cNvPr id="11" name="Shape 9"/>
          <ns0:cNvSpPr/>
          <ns0:nvPr/>
        </ns0:nvSpPr>
        <ns0:spPr>
          <ns1:xfrm>
            <ns1:off x="2770632" y="2514600"/>
            <ns1:ext cx="1920240" cy="804672"/>
          </ns1:xfrm>
          <ns1:prstGeom prst="roundRect">
            <ns1:avLst>
              <ns1:gd name="adj" fmla="val 9091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12" name="Text 10"/>
          <ns0:cNvSpPr/>
          <ns0:nvPr/>
        </ns0:nvSpPr>
        <ns0:spPr>
          <ns1:xfrm>
            <ns1:off x="2898648" y="2642616"/>
            <ns1:ext cx="1691640" cy="2103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Vanilla JS &amp; Bun</ns1:t>
            </ns1:r>
            <ns1:endParaRPr lang="en-US" sz="1300" dirty="0"/>
          </ns1:p>
        </ns0:txBody>
      </ns0:sp>
      <ns0:sp>
        <ns0:nvSpPr>
          <ns0:cNvPr id="13" name="Text 11"/>
          <ns0:cNvSpPr/>
          <ns0:nvPr/>
        </ns0:nvSpPr>
        <ns0:spPr>
          <ns1:xfrm>
            <ns1:off x="2898648" y="2953512"/>
            <ns1:ext cx="1664208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747985"/>
                </ns1:solidFill>
              </ns1:rPr>
              <ns1:t>Module tương tác luồng đặt vé, chạy trên Bun siêu tốc</ns1:t>
            </ns1:r>
            <ns1:endParaRPr lang="en-US" sz="900" dirty="0"/>
          </ns1:p>
        </ns0:txBody>
      </ns0:sp>
      <ns0:sp>
        <ns0:nvSpPr>
          <ns0:cNvPr id="14" name="Shape 12"/>
          <ns0:cNvSpPr/>
          <ns0:nvPr/>
        </ns0:nvSpPr>
        <ns0:spPr>
          <ns1:xfrm>
            <ns1:off x="685800" y="3538728"/>
            <ns1:ext cx="1920240" cy="804672"/>
          </ns1:xfrm>
          <ns1:prstGeom prst="roundRect">
            <ns1:avLst>
              <ns1:gd name="adj" fmla="val 9091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15" name="Text 13"/>
          <ns0:cNvSpPr/>
          <ns0:nvPr/>
        </ns0:nvSpPr>
        <ns0:spPr>
          <ns1:xfrm>
            <ns1:off x="813816" y="3666744"/>
            <ns1:ext cx="1691640" cy="2103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json-server</ns1:t>
            </ns1:r>
            <ns1:endParaRPr lang="en-US" sz="1300" dirty="0"/>
          </ns1:p>
        </ns0:txBody>
      </ns0:sp>
      <ns0:sp>
        <ns0:nvSpPr>
          <ns0:cNvPr id="16" name="Text 14"/>
          <ns0:cNvSpPr/>
          <ns0:nvPr/>
        </ns0:nvSpPr>
        <ns0:spPr>
          <ns1:xfrm>
            <ns1:off x="813816" y="3977640"/>
            <ns1:ext cx="1664208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747985"/>
                </ns1:solidFill>
              </ns1:rPr>
              <ns1:t>REST API CRUD: phim, lịch chiếu, combo, đơn vé</ns1:t>
            </ns1:r>
            <ns1:endParaRPr lang="en-US" sz="900" dirty="0"/>
          </ns1:p>
        </ns0:txBody>
      </ns0:sp>
      <ns0:sp>
        <ns0:nvSpPr>
          <ns0:cNvPr id="17" name="Shape 15"/>
          <ns0:cNvSpPr/>
          <ns0:nvPr/>
        </ns0:nvSpPr>
        <ns0:spPr>
          <ns1:xfrm>
            <ns1:off x="2770632" y="3538728"/>
            <ns1:ext cx="1920240" cy="804672"/>
          </ns1:xfrm>
          <ns1:prstGeom prst="roundRect">
            <ns1:avLst>
              <ns1:gd name="adj" fmla="val 9091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18" name="Text 16"/>
          <ns0:cNvSpPr/>
          <ns0:nvPr/>
        </ns0:nvSpPr>
        <ns0:spPr>
          <ns1:xfrm>
            <ns1:off x="2898648" y="3666744"/>
            <ns1:ext cx="1691640" cy="2103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json-server-auth</ns1:t>
            </ns1:r>
            <ns1:endParaRPr lang="en-US" sz="1300" dirty="0"/>
          </ns1:p>
        </ns0:txBody>
      </ns0:sp>
      <ns0:sp>
        <ns0:nvSpPr>
          <ns0:cNvPr id="19" name="Text 17"/>
          <ns0:cNvSpPr/>
          <ns0:nvPr/>
        </ns0:nvSpPr>
        <ns0:spPr>
          <ns1:xfrm>
            <ns1:off x="2898648" y="3977640"/>
            <ns1:ext cx="1664208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747985"/>
                </ns1:solidFill>
              </ns1:rPr>
              <ns1:t>Auth JWT token, mã hóa bcrypt, đăng nhập Email/SĐT</ns1:t>
            </ns1:r>
            <ns1:endParaRPr lang="en-US" sz="900" dirty="0"/>
          </ns1:p>
        </ns0:txBody>
      </ns0:sp>
      <ns0:sp>
        <ns0:nvSpPr>
          <ns0:cNvPr id="20" name="Shape 18"/>
          <ns0:cNvSpPr/>
          <ns0:nvPr/>
        </ns0:nvSpPr>
        <ns0:spPr>
          <ns1:xfrm>
            <ns1:off x="685800" y="4754880"/>
            <ns1:ext cx="3886200" cy="777240"/>
          </ns1:xfrm>
          <ns1:prstGeom prst="roundRect">
            <ns1:avLst>
              <ns1:gd name="adj" fmla="val 7059"/>
            </ns1:avLst>
          </ns1:prstGeom>
          <ns1:solidFill>
            <ns1:srgbClr val="FFF0F0"/>
          </ns1:solidFill>
          <ns1:ln w="12700">
            <ns1:solidFill>
              <ns1:srgbClr val="FFD0D2"/>
            </ns1:solidFill>
            <ns1:prstDash val="solid"/>
          </ns1:ln>
        </ns0:spPr>
      </ns0:sp>
      <ns0:sp>
        <ns0:nvSpPr>
          <ns0:cNvPr id="21" name="Text 19"/>
          <ns0:cNvSpPr/>
          <ns0:nvPr/>
        </ns0:nvSpPr>
        <ns0:spPr>
          <ns1:xfrm>
            <ns1:off x="850392" y="4910328"/>
            <ns1:ext cx="3547872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000" dirty="0">
                <ns1:solidFill>
                  <ns1:srgbClr val="171923"/>
                </ns1:solidFill>
              </ns1:rPr>
              <ns1:t>Đã refactor thành công sang json-server (CRUD) và json-server-auth (Đăng ký/Đăng nhập) với bộ test 26/26 PASS.</ns1:t>
            </ns1:r>
            <ns1:endParaRPr lang="en-US" sz="1000" dirty="0"/>
          </ns1:p>
        </ns0:txBody>
      </ns0:sp>
      <ns0:sp>
        <ns0:nvSpPr>
          <ns0:cNvPr id="22" name="Text 20"/>
          <ns0:cNvSpPr/>
          <ns0:nvPr/>
        </ns0:nvSpPr>
        <ns0:spPr>
          <ns1:xfrm>
            <ns1:off x="5074920" y="2542032"/>
            <ns1:ext cx="62179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900" b="1" spc="100" kern="0" dirty="0">
                <ns1:solidFill>
                  <ns1:srgbClr val="E51D2A"/>
                </ns1:solidFill>
              </ns1:rPr>
              <ns1:t>MODULES</ns1:t>
            </ns1:r>
            <ns1:endParaRPr lang="en-US" sz="900" dirty="0"/>
          </ns1:p>
        </ns0:txBody>
      </ns0:sp>
      <ns0:sp>
        <ns0:nvSpPr>
          <ns0:cNvPr id="23" name="Text 21"/>
          <ns0:cNvSpPr/>
          <ns0:nvPr/>
        </ns0:nvSpPr>
        <ns0:spPr>
          <ns1:xfrm>
            <ns1:off x="5074920" y="2807208"/>
            <ns1:ext cx="6263640" cy="4846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200" dirty="0">
                <ns1:solidFill>
                  <ns1:srgbClr val="171923"/>
                </ns1:solidFill>
              </ns1:rPr>
              <ns1:t>Home · movies · movie detail · schedule · booking · checkout · profile · admin</ns1:t>
            </ns1:r>
            <ns1:endParaRPr lang="en-US" sz="1200" dirty="0"/>
          </ns1:p>
        </ns0:txBody>
      </ns0:sp>
      <ns0:sp>
        <ns0:nvSpPr>
          <ns0:cNvPr id="24" name="Shape 22"/>
          <ns0:cNvSpPr/>
          <ns0:nvPr/>
        </ns0:nvSpPr>
        <ns0:spPr>
          <ns1:xfrm>
            <ns1:off x="5074920" y="3392424"/>
            <ns1:ext cx="6126480" cy="0"/>
          </ns1:xfrm>
          <ns1:prstGeom prst="line">
            <ns1:avLst/>
          </ns1:prstGeom>
          <ns1:noFill/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25" name="Text 23"/>
          <ns0:cNvSpPr/>
          <ns0:nvPr/>
        </ns0:nvSpPr>
        <ns0:spPr>
          <ns1:xfrm>
            <ns1:off x="5074920" y="3575304"/>
            <ns1:ext cx="62179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900" b="1" spc="100" kern="0" dirty="0">
                <ns1:solidFill>
                  <ns1:srgbClr val="E51D2A"/>
                </ns1:solidFill>
              </ns1:rPr>
              <ns1:t>DATA</ns1:t>
            </ns1:r>
            <ns1:endParaRPr lang="en-US" sz="900" dirty="0"/>
          </ns1:p>
        </ns0:txBody>
      </ns0:sp>
      <ns0:sp>
        <ns0:nvSpPr>
          <ns0:cNvPr id="26" name="Text 24"/>
          <ns0:cNvSpPr/>
          <ns0:nvPr/>
        </ns0:nvSpPr>
        <ns0:spPr>
          <ns1:xfrm>
            <ns1:off x="5074920" y="3840480"/>
            <ns1:ext cx="6263640" cy="4846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200" dirty="0">
                <ns1:solidFill>
                  <ns1:srgbClr val="171923"/>
                </ns1:solidFill>
              </ns1:rPr>
              <ns1:t>db.json tập trung: movies · cinemas · showtimes · concessions · bookings</ns1:t>
            </ns1:r>
            <ns1:endParaRPr lang="en-US" sz="1200" dirty="0"/>
          </ns1:p>
        </ns0:txBody>
      </ns0:sp>
      <ns0:sp>
        <ns0:nvSpPr>
          <ns0:cNvPr id="27" name="Shape 25"/>
          <ns0:cNvSpPr/>
          <ns0:nvPr/>
        </ns0:nvSpPr>
        <ns0:spPr>
          <ns1:xfrm>
            <ns1:off x="5074920" y="4425696"/>
            <ns1:ext cx="6126480" cy="0"/>
          </ns1:xfrm>
          <ns1:prstGeom prst="line">
            <ns1:avLst/>
          </ns1:prstGeom>
          <ns1:noFill/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28" name="Text 26"/>
          <ns0:cNvSpPr/>
          <ns0:nvPr/>
        </ns0:nvSpPr>
        <ns0:spPr>
          <ns1:xfrm>
            <ns1:off x="5074920" y="4608576"/>
            <ns1:ext cx="62179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900" b="1" spc="100" kern="0" dirty="0">
                <ns1:solidFill>
                  <ns1:srgbClr val="E51D2A"/>
                </ns1:solidFill>
              </ns1:rPr>
              <ns1:t>LOGIN / ADMIN</ns1:t>
            </ns1:r>
            <ns1:endParaRPr lang="en-US" sz="900" dirty="0"/>
          </ns1:p>
        </ns0:txBody>
      </ns0:sp>
      <ns0:sp>
        <ns0:nvSpPr>
          <ns0:cNvPr id="29" name="Text 27"/>
          <ns0:cNvSpPr/>
          <ns0:nvPr/>
        </ns0:nvSpPr>
        <ns0:spPr>
          <ns1:xfrm>
            <ns1:off x="5074920" y="4873752"/>
            <ns1:ext cx="6263640" cy="4846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200" dirty="0">
                <ns1:solidFill>
                  <ns1:srgbClr val="171923"/>
                </ns1:solidFill>
              </ns1:rPr>
              <ns1:t>Xác thực JWT token, phiên làm việc an toàn. Admin Full CRUD đồng bộ REST API và thống kê doanh thu.</ns1:t>
            </ns1:r>
            <ns1:endParaRPr lang="en-US" sz="1200" dirty="0"/>
          </ns1:p>
        </ns0:txBody>
      </ns0:sp>
      <ns0:sp>
        <ns0:nvSpPr>
          <ns0:cNvPr id="30" name="Shape 28"/>
          <ns0:cNvSpPr/>
          <ns0:nvPr/>
        </ns0:nvSpPr>
        <ns0:spPr>
          <ns1:xfrm>
            <ns1:off x="5074920" y="5458968"/>
            <ns1:ext cx="6126480" cy="0"/>
          </ns1:xfrm>
          <ns1:prstGeom prst="line">
            <ns1:avLst/>
          </ns1:prstGeom>
          <ns1:noFill/>
          <ns1:ln w="12700">
            <ns1:solidFill>
              <ns1:srgbClr val="E8E6E2"/>
            </ns1:solidFill>
            <ns1:prstDash val="solid"/>
          </ns1:ln>
        </ns0:spPr>
      </ns0:sp>
    </ns0:spTree>
  </ns0:cSld>
  <ns0:clrMapOvr>
    <ns1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51D2A"/>
          </a:solidFill>
          <a:ln w="12700">
            <a:solidFill>
              <a:srgbClr val="E51D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1D2A"/>
                </a:solidFill>
              </a:rPr>
              <a:t>BETA CINEMAS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0" y="27432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747985"/>
                </a:solidFill>
              </a:rPr>
              <a:t>DEMO     05 / 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052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772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51D2A"/>
                </a:solidFill>
              </a:rPr>
              <a:t>05 · DEMO · HAPPY PATH 3–5 PHÚT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97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spc="-50" kern="0" dirty="0">
                <a:solidFill>
                  <a:srgbClr val="171923"/>
                </a:solidFill>
              </a:rPr>
              <a:t>Chọn phim → chọn ghế → nhận vé QR.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685800" y="2514600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67919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1D2A"/>
                </a:solidFill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51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923"/>
                </a:solidFill>
              </a:rPr>
              <a:t>Chọn phim đang chiếu và suất chiếu tại rạp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227832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9242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1D2A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3649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923"/>
                </a:solidFill>
              </a:rPr>
              <a:t>Chọn ghế; đồng hồ giữ ghế bắt đầu đếm ngược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9410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10565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1D2A"/>
                </a:solidFill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4078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923"/>
                </a:solidFill>
              </a:rPr>
              <a:t>Thêm combo, nhập voucher; kiểm tra tổng tiền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4654296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8E6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1888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1D2A"/>
                </a:solidFill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08760" y="47914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923"/>
                </a:solidFill>
              </a:rPr>
              <a:t>Xác nhận thanh toán mô phỏng, mở vé điện tử QR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0100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0" b="1" spc="-200" kern="0" dirty="0">
                <a:solidFill>
                  <a:srgbClr val="E51D2A"/>
                </a:solidFill>
              </a:rPr>
              <a:t>3–5</a:t>
            </a:r>
            <a:endParaRPr lang="en-US" sz="5900" dirty="0"/>
          </a:p>
        </p:txBody>
      </p:sp>
      <p:sp>
        <p:nvSpPr>
          <p:cNvPr id="21" name="Text 19"/>
          <p:cNvSpPr/>
          <p:nvPr/>
        </p:nvSpPr>
        <p:spPr>
          <a:xfrm>
            <a:off x="1024128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1923"/>
                </a:solidFill>
              </a:rPr>
              <a:t>PHÚT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11480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47985"/>
                </a:solidFill>
              </a:rPr>
              <a:t>Điểm nhấn nếu còn thời gian: lọc phim hoặc đổi số lượng ghế/combo để thấy tổng tiền cập nhật. Kết thúc ở vé QR để chứng minh luồng MVP chạy xuyên suốt.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8/hyperlinkcolor">
  <ns0:cSld name="Slide 6">
    <ns0:bg>
      <ns0:bgPr>
        <ns1:solidFill>
          <ns1:srgbClr val="F4F2E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0" y="0"/>
            <ns1:ext cx="12191695" cy="64008"/>
          </ns1:xfrm>
          <ns1:prstGeom prst="rect">
            <ns1:avLst/>
          </ns1:prstGeom>
          <ns1:solidFill>
            <ns1:srgbClr val="E51D2A"/>
          </ns1:solidFill>
          <ns1:ln w="12700">
            <ns1:solidFill>
              <ns1:srgbClr val="E51D2A">
                <ns1:alpha val="0"/>
              </ns1:srgbClr>
            </ns1:solidFill>
            <ns1:prstDash val="solid"/>
          </ns1:ln>
        </ns0:spPr>
      </ns0:sp>
      <ns0:sp>
        <ns0:nvSpPr>
          <ns0:cNvPr id="3" name="Text 1"/>
          <ns0:cNvSpPr/>
          <ns0:nvPr/>
        </ns0:nvSpPr>
        <ns0:spPr>
          <ns1:xfrm>
            <ns1:off x="502920" y="274320"/>
            <ns1:ext cx="210312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50" kern="0" dirty="0">
                <ns1:solidFill>
                  <ns1:srgbClr val="E51D2A"/>
                </ns1:solidFill>
              </ns1:rPr>
              <ns1:t>BETA CINEMAS</ns1:t>
            </ns1:r>
            <ns1:endParaRPr lang="en-US" sz="10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8229600" y="274320"/>
            <ns1:ext cx="34290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b="1" spc="100" kern="0" dirty="0">
                <ns1:solidFill>
                  <ns1:srgbClr val="747985"/>
                </ns1:solidFill>
              </ns1:rPr>
              <ns1:t>TEAM &amp; GIT     06 / 06</ns1:t>
            </ns1:r>
            <ns1:endParaRPr lang="en-US" sz="900" dirty="0"/>
          </ns1:p>
        </ns0:txBody>
      </ns0:sp>
      <ns0:sp>
        <ns0:nvSpPr>
          <ns0:cNvPr id="5" name="Text 3"/>
          <ns0:cNvSpPr/>
          <ns0:nvPr/>
        </ns0:nvSpPr>
        <ns0:spPr>
          <ns1:xfrm>
            <ns1:off x="11155680" y="6510528"/>
            <ns1:ext cx="411480" cy="137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dirty="0">
                <ns1:solidFill>
                  <ns1:srgbClr val="999999"/>
                </ns1:solidFill>
              </ns1:rPr>
              <ns1:t>06</ns1:t>
            </ns1:r>
            <ns1:endParaRPr lang="en-US" sz="900" dirty="0"/>
          </ns1:p>
        </ns0:txBody>
      </ns0:sp>
      <ns0:sp>
        <ns0:nvSpPr>
          <ns0:cNvPr id="6" name="Text 4"/>
          <ns0:cNvSpPr/>
          <ns0:nvPr/>
        </ns0:nvSpPr>
        <ns0:spPr>
          <ns1:xfrm>
            <ns1:off x="594360" y="777240"/>
            <ns1:ext cx="548640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000" b="1" spc="160" kern="0" dirty="0">
                <ns1:solidFill>
                  <ns1:srgbClr val="E51D2A"/>
                </ns1:solidFill>
              </ns1:rPr>
              <ns1:t>06 · TEAM &amp; GIT</ns1:t>
            </ns1:r>
            <ns1:endParaRPr lang="en-US" sz="1000" dirty="0"/>
          </ns1:p>
        </ns0:txBody>
      </ns0:sp>
      <ns0:sp>
        <ns0:nvSpPr>
          <ns0:cNvPr id="7" name="Text 5"/>
          <ns0:cNvSpPr/>
          <ns0:nvPr/>
        </ns0:nvSpPr>
        <ns0:spPr>
          <ns1:xfrm>
            <ns1:off x="594360" y="1097280"/>
            <ns1:ext cx="10972800" cy="10972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3100" b="1" spc="-50" kern="0" dirty="0">
                <ns1:solidFill>
                  <ns1:srgbClr val="171923"/>
                </ns1:solidFill>
              </ns1:rPr>
              <ns1:t>Phân công theo module, cùng hoàn thiện MVP.</ns1:t>
            </ns1:r>
            <ns1:endParaRPr lang="en-US" sz="3100" dirty="0"/>
          </ns1:p>
        </ns0:txBody>
      </ns0:sp>
      <ns0:sp>
        <ns0:nvSpPr>
          <ns0:cNvPr id="8" name="Shape 6"/>
          <ns0:cNvSpPr/>
          <ns0:nvPr/>
        </ns0:nvSpPr>
        <ns0:spPr>
          <ns1:xfrm>
            <ns1:off x="594360" y="2423160"/>
            <ns1:ext cx="5532120" cy="3383280"/>
          </ns1:xfrm>
          <ns1:prstGeom prst="roundRect">
            <ns1:avLst>
              <ns1:gd name="adj" fmla="val 2162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9" name="Text 7"/>
          <ns0:cNvSpPr/>
          <ns0:nvPr/>
        </ns0:nvSpPr>
        <ns0:spPr>
          <ns1:xfrm>
            <ns1:off x="813816" y="2624328"/>
            <ns1:ext cx="5093208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400" b="1" spc="40" kern="0" dirty="0">
                <ns1:solidFill>
                  <ns1:srgbClr val="171923"/>
                </ns1:solidFill>
              </ns1:rPr>
              <ns1:t>THÀNH VIÊN &amp; ĐÓNG GÓP</ns1:t>
            </ns1:r>
            <ns1:endParaRPr lang="en-US" sz="140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832104" y="309067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1" name="Text 9"/>
          <ns0:cNvSpPr/>
          <ns0:nvPr/>
        </ns0:nvSpPr>
        <ns0:spPr>
          <ns1:xfrm>
            <ns1:off x="1115568" y="3090672"/>
            <ns1:ext cx="4754880" cy="5943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Nguyễn Văn Trọng — UI chính, phim/lịch/ghế, JSON &amp; localStorage</ns1:t>
            </ns1:r>
            <ns1:endParaRPr lang="en-US" sz="1100" dirty="0"/>
          </ns1:p>
        </ns0:txBody>
      </ns0:sp>
      <ns0:sp>
        <ns0:nvSpPr>
          <ns0:cNvPr id="12" name="Text 10"/>
          <ns0:cNvSpPr/>
          <ns0:nvPr/>
        </ns0:nvSpPr>
        <ns0:spPr>
          <ns1:xfrm>
            <ns1:off x="832104" y="382219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3" name="Text 11"/>
          <ns0:cNvSpPr/>
          <ns0:nvPr/>
        </ns0:nvSpPr>
        <ns0:spPr>
          <ns1:xfrm>
            <ns1:off x="1115568" y="3822192"/>
            <ns1:ext cx="4754880" cy="5943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Vũ Tiến Lập — checkout, combo, hồ sơ, Admin, kiểm thử, GitHub Pages</ns1:t>
            </ns1:r>
            <ns1:endParaRPr lang="en-US" sz="1100" dirty="0"/>
          </ns1:p>
        </ns0:txBody>
      </ns0:sp>
      <ns0:sp>
        <ns0:nvSpPr>
          <ns0:cNvPr id="14" name="Text 12"/>
          <ns0:cNvSpPr/>
          <ns0:nvPr/>
        </ns0:nvSpPr>
        <ns0:spPr>
          <ns1:xfrm>
            <ns1:off x="832104" y="455371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15" name="Text 13"/>
          <ns0:cNvSpPr/>
          <ns0:nvPr/>
        </ns0:nvSpPr>
        <ns0:spPr>
          <ns1:xfrm>
            <ns1:off x="1115568" y="4553712"/>
            <ns1:ext cx="4754880" cy="5943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Phạm Anh Duy — voucher, booking, thanh toán mô phỏng, vé QR, auth</ns1:t>
            </ns1:r>
            <ns1:endParaRPr lang="en-US" sz="1100" dirty="0"/>
          </ns1:p>
        </ns0:txBody>
      </ns0:sp>
      <ns0:sp>
        <ns0:nvSpPr>
          <ns0:cNvPr id="16" name="Text 14"/>
          <ns0:cNvSpPr/>
          <ns0:nvPr/>
        </ns0:nvSpPr>
        <ns0:spPr>
          <ns1:xfrm>
            <ns1:off x="914400" y="5166360"/>
            <ns1:ext cx="1554480" cy="182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900" b="1" dirty="0">
                <ns1:solidFill>
                  <ns1:srgbClr val="747985"/>
                </ns1:solidFill>
              </ns1:rPr>
              <ns1:t>GitHub repository</ns1:t>
            </ns1:r>
            <ns1:endParaRPr lang="en-US" sz="900" dirty="0"/>
          </ns1:p>
        </ns0:txBody>
      </ns0:sp>
      <ns0:sp>
        <ns0:nvSpPr>
          <ns0:cNvPr id="17" name="Text 15">
            <ns1:hlinkClick ns2:id="rId1" tooltip=""/>
          </ns0:cNvPr>
          <ns0:cNvSpPr/>
          <ns0:nvPr/>
        </ns0:nvSpPr>
        <ns0:spPr>
          <ns1:xfrm>
            <ns1:off x="914400" y="5413248"/>
            <ns1:ext cx="475488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b="1" u="sng" dirty="0">
                <ns1:solidFill>
                  <ns1:srgbClr val="E51D2A"/>
                </ns1:solidFill>
                <ns1:hlinkClick ns2:id="rId1" invalidUrl="" action="" tgtFrame="" tooltip="" history="1" highlightClick="0" endSnd="0">
                  <ns1:extLst>
                    <ns1:ext uri="{A12FA001-AC4F-418D-AE19-62706E023703}">
                      <ns3:hlinkClr val="tx"/>
                    </ns1:ext>
                  </ns1:extLst>
                </ns1:hlinkClick>
              </ns1:rPr>
              <ns1:t>github.com/AsakiYuki/web2064-fa26</ns1:t>
            </ns1:r>
            <ns1:endParaRPr lang="en-US" sz="1100" dirty="0"/>
          </ns1:p>
        </ns0:txBody>
      </ns0:sp>
      <ns0:sp>
        <ns0:nvSpPr>
          <ns0:cNvPr id="18" name="Shape 16"/>
          <ns0:cNvSpPr/>
          <ns0:nvPr/>
        </ns0:nvSpPr>
        <ns0:spPr>
          <ns1:xfrm>
            <ns1:off x="6355080" y="2423160"/>
            <ns1:ext cx="5230368" cy="3383280"/>
          </ns1:xfrm>
          <ns1:prstGeom prst="roundRect">
            <ns1:avLst>
              <ns1:gd name="adj" fmla="val 2162"/>
            </ns1:avLst>
          </ns1:prstGeom>
          <ns1:solidFill>
            <ns1:srgbClr val="FFFFFF"/>
          </ns1:solidFill>
          <ns1:ln w="12700">
            <ns1:solidFill>
              <ns1:srgbClr val="E8E6E2"/>
            </ns1:solidFill>
            <ns1:prstDash val="solid"/>
          </ns1:ln>
        </ns0:spPr>
      </ns0:sp>
      <ns0:sp>
        <ns0:nvSpPr>
          <ns0:cNvPr id="19" name="Text 17"/>
          <ns0:cNvSpPr/>
          <ns0:nvPr/>
        </ns0:nvSpPr>
        <ns0:spPr>
          <ns1:xfrm>
            <ns1:off x="6574536" y="2624328"/>
            <ns1:ext cx="4791456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400" b="1" spc="40" kern="0" dirty="0">
                <ns1:solidFill>
                  <ns1:srgbClr val="171923"/>
                </ns1:solidFill>
              </ns1:rPr>
              <ns1:t>KHÓ KHĂN &amp; KẾT QUẢ ĐẠT ĐƯỢC</ns1:t>
            </ns1:r>
            <ns1:endParaRPr lang="en-US" sz="1400" dirty="0"/>
          </ns1:p>
        </ns0:txBody>
      </ns0:sp>
      <ns0:sp>
        <ns0:nvSpPr>
          <ns0:cNvPr id="20" name="Text 18"/>
          <ns0:cNvSpPr/>
          <ns0:nvPr/>
        </ns0:nvSpPr>
        <ns0:spPr>
          <ns1:xfrm>
            <ns1:off x="6592824" y="309067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1" name="Text 19"/>
          <ns0:cNvSpPr/>
          <ns0:nvPr/>
        </ns0:nvSpPr>
        <ns0:spPr>
          <ns1:xfrm>
            <ns1:off x="6876288" y="3090672"/>
            <ns1:ext cx="4453128" cy="58521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Khó khăn: Đồng bộ trạng thái real-time giữa REST API json-server và giao diện phía client.</ns1:t>
            </ns1:r>
            <ns1:endParaRPr lang="en-US" sz="1100" dirty="0"/>
          </ns1:p>
        </ns0:txBody>
      </ns0:sp>
      <ns0:sp>
        <ns0:nvSpPr>
          <ns0:cNvPr id="22" name="Text 20"/>
          <ns0:cNvSpPr/>
          <ns0:nvPr/>
        </ns0:nvSpPr>
        <ns0:spPr>
          <ns1:xfrm>
            <ns1:off x="6592824" y="382219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3" name="Text 21"/>
          <ns0:cNvSpPr/>
          <ns0:nvPr/>
        </ns0:nvSpPr>
        <ns0:spPr>
          <ns1:xfrm>
            <ns1:off x="6876288" y="3822192"/>
            <ns1:ext cx="4453128" cy="58521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Cách xử lý: Xây dựng module api.js kết hợp storage.js làm cầu nối cache và xác thực Bearer token.</ns1:t>
            </ns1:r>
            <ns1:endParaRPr lang="en-US" sz="1100" dirty="0"/>
          </ns1:p>
        </ns0:txBody>
      </ns0:sp>
      <ns0:sp>
        <ns0:nvSpPr>
          <ns0:cNvPr id="24" name="Text 22"/>
          <ns0:cNvSpPr/>
          <ns0:nvPr/>
        </ns0:nvSpPr>
        <ns0:spPr>
          <ns1:xfrm>
            <ns1:off x="6592824" y="4553712"/>
            <ns1:ext cx="201168" cy="21945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300" b="1" dirty="0">
                <ns1:solidFill>
                  <ns1:srgbClr val="E51D2A"/>
                </ns1:solidFill>
              </ns1:rPr>
              <ns1:t>•</ns1:t>
            </ns1:r>
            <ns1:endParaRPr lang="en-US" sz="1300" dirty="0"/>
          </ns1:p>
        </ns0:txBody>
      </ns0:sp>
      <ns0:sp>
        <ns0:nvSpPr>
          <ns0:cNvPr id="25" name="Text 23"/>
          <ns0:cNvSpPr/>
          <ns0:nvPr/>
        </ns0:nvSpPr>
        <ns0:spPr>
          <ns1:xfrm>
            <ns1:off x="6876288" y="4553712"/>
            <ns1:ext cx="4453128" cy="58521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>
            <ns1:normAutofit/>
          </ns1:bodyPr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171923"/>
                </ns1:solidFill>
              </ns1:rPr>
              <ns1:t>Kết quả: Hoàn thành 100% backlog, tích hợp json-server + auth, vượt qua 26/26 use case tests.</ns1:t>
            </ns1:r>
            <ns1:endParaRPr lang="en-US" sz="1100" dirty="0"/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Beta Cinemas — Thuyết trình dự án</dc:title>
  <dc:subject>Website đặt vé xem phim</dc:subject>
  <dc:creator>WEB2064</dc:creator>
  <cp:lastModifiedBy>WEB2064</cp:lastModifiedBy>
  <cp:revision>1</cp:revision>
  <dcterms:created xsi:type="dcterms:W3CDTF">2026-10-01T12:08:08Z</dcterms:created>
  <dcterms:modified xsi:type="dcterms:W3CDTF">2026-10-01T12:08:08Z</dcterms:modified>
</cp:coreProperties>
</file>