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C644E29-515F-411E-AA52-CEE7F65F491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17225F-5AF5-44F2-AE09-368358C061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8F615D-4A1F-462D-9BA7-962657429D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653DF-E188-411B-A0E9-917E7B9A9F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EBA844-0577-4233-984B-BCA798C136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DFD980-5862-4327-AC92-12CB595064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C9E86-0C8F-4EA5-B622-90AF162279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AsakiYuki/web2064-fa2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502920" y="2743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89B4FA"/>
                </a:solidFill>
                <a:effectLst/>
                <a:uFillTx/>
                <a:latin typeface="Arial"/>
              </a:rPr>
              <a:t>BETA CINEMAS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8229600" y="274320"/>
            <a:ext cx="3428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PROJECT     01 / 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11155680" y="6510600"/>
            <a:ext cx="4111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399B2"/>
                </a:solidFill>
                <a:effectLst/>
                <a:uFillTx/>
                <a:latin typeface="Arial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85800" y="1234440"/>
            <a:ext cx="540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9" strike="noStrike">
                <a:solidFill>
                  <a:srgbClr val="89B4FA"/>
                </a:solidFill>
                <a:effectLst/>
                <a:uFillTx/>
                <a:latin typeface="Arial"/>
              </a:rPr>
              <a:t>01 · PROJECT · HỆ THỐNG BETA CINEMAS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640080" y="1645920"/>
            <a:ext cx="5400000" cy="10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pc="-99" strike="noStrike">
                <a:solidFill>
                  <a:srgbClr val="CDD6F4"/>
                </a:solidFill>
                <a:effectLst/>
                <a:uFillTx/>
                <a:latin typeface="Arial"/>
              </a:rPr>
              <a:t>Beta Cinemas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pc="-99" strike="noStrike">
                <a:solidFill>
                  <a:srgbClr val="CDD6F4"/>
                </a:solidFill>
                <a:effectLst/>
                <a:uFillTx/>
                <a:latin typeface="Arial"/>
              </a:rPr>
              <a:t>Đặt vé gọn. Đi xem vui.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685800" y="2700000"/>
            <a:ext cx="540000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AC2DE"/>
                </a:solidFill>
                <a:effectLst/>
                <a:uFillTx/>
                <a:latin typeface="Arial"/>
              </a:rPr>
              <a:t>14 trang MPA, kết nối REST API, triển khai trên Vercel.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685800" y="4500000"/>
            <a:ext cx="27000" cy="126000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31960" y="4500000"/>
            <a:ext cx="3200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CÁC TÍNH NĂNG CHÍNH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31960" y="4752000"/>
            <a:ext cx="3291480" cy="1080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152 ghế, giữ chỗ 5 phút; cần đăng nhập.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Voucher, thanh toán mô phỏng, vé QR.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4389120" y="4500000"/>
            <a:ext cx="27000" cy="126000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4535280" y="4500000"/>
            <a:ext cx="3200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ĐỐI TƯỢNG SỬ DỤNG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535280" y="4752000"/>
            <a:ext cx="3291480" cy="1080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Khán giả: Tìm phim, đặt vé, tích điểm.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Nhân viên/Admin: Duyệt đơn, check-in.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8092440" y="4500000"/>
            <a:ext cx="27000" cy="126000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8238600" y="4500000"/>
            <a:ext cx="3200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THÀNH VIÊN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8238600" y="4752000"/>
            <a:ext cx="3291480" cy="1080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Nguyễn Văn Trọng (PH66734)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Vũ Tiến Lập (PH65133)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Phạm Anh Duy (PH65717)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CardPreviewHome"/>
          <p:cNvSpPr/>
          <p:nvPr/>
        </p:nvSpPr>
        <p:spPr>
          <a:xfrm>
            <a:off x="6300000" y="1152000"/>
            <a:ext cx="5328000" cy="3024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PreviewHome"/>
          <p:cNvPicPr/>
          <p:nvPr/>
        </p:nvPicPr>
        <p:blipFill>
          <a:blip r:embed="rId1"/>
          <a:stretch/>
        </p:blipFill>
        <p:spPr>
          <a:xfrm>
            <a:off x="6408000" y="1242000"/>
            <a:ext cx="5112000" cy="2844000"/>
          </a:xfrm>
          <a:prstGeom prst="rect">
            <a:avLst/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02920" y="2743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89B4FA"/>
                </a:solidFill>
                <a:effectLst/>
                <a:uFillTx/>
                <a:latin typeface="Arial"/>
              </a:rPr>
              <a:t>BETA CINEMAS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8229600" y="274320"/>
            <a:ext cx="3428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CHỨC NĂNG CHÍNH     02 / 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11155680" y="6510600"/>
            <a:ext cx="4111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399B2"/>
                </a:solidFill>
                <a:effectLst/>
                <a:uFillTx/>
                <a:latin typeface="Arial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94360" y="777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9" strike="noStrike">
                <a:solidFill>
                  <a:srgbClr val="89B4FA"/>
                </a:solidFill>
                <a:effectLst/>
                <a:uFillTx/>
                <a:latin typeface="Arial"/>
              </a:rPr>
              <a:t>02 · CHỨC NĂNG CHÍNH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94360" y="10972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pc="-51" strike="noStrike">
                <a:solidFill>
                  <a:srgbClr val="CDD6F4"/>
                </a:solidFill>
                <a:effectLst/>
                <a:uFillTx/>
                <a:latin typeface="Arial"/>
              </a:rPr>
              <a:t>Sáu nhóm chức năng của Beta Cinemas.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Card 01"/>
          <p:cNvSpPr/>
          <p:nvPr/>
        </p:nvSpPr>
        <p:spPr>
          <a:xfrm>
            <a:off x="594360" y="2484000"/>
            <a:ext cx="3492720" cy="171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Num 01"/>
          <p:cNvSpPr/>
          <p:nvPr/>
        </p:nvSpPr>
        <p:spPr>
          <a:xfrm>
            <a:off x="777240" y="2646000"/>
            <a:ext cx="432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itle 01"/>
          <p:cNvSpPr/>
          <p:nvPr/>
        </p:nvSpPr>
        <p:spPr>
          <a:xfrm>
            <a:off x="777240" y="2916000"/>
            <a:ext cx="3132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Khám phá &amp; Trailer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Desc 01"/>
          <p:cNvSpPr/>
          <p:nvPr/>
        </p:nvSpPr>
        <p:spPr>
          <a:xfrm>
            <a:off x="777240" y="3240000"/>
            <a:ext cx="313200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Tìm phim, lọc danh sách, xem trailer.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Card 02"/>
          <p:cNvSpPr/>
          <p:nvPr/>
        </p:nvSpPr>
        <p:spPr>
          <a:xfrm>
            <a:off x="4325040" y="2484000"/>
            <a:ext cx="3492720" cy="171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Num 02"/>
          <p:cNvSpPr/>
          <p:nvPr/>
        </p:nvSpPr>
        <p:spPr>
          <a:xfrm>
            <a:off x="4507920" y="2646000"/>
            <a:ext cx="432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itle 02"/>
          <p:cNvSpPr/>
          <p:nvPr/>
        </p:nvSpPr>
        <p:spPr>
          <a:xfrm>
            <a:off x="4507920" y="2916000"/>
            <a:ext cx="3132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Lịch chiếu &amp; 10 Cụm rạp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Desc 02"/>
          <p:cNvSpPr/>
          <p:nvPr/>
        </p:nvSpPr>
        <p:spPr>
          <a:xfrm>
            <a:off x="4507920" y="3240000"/>
            <a:ext cx="313200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Chọn rạp, ngày và suất chiếu tại 10 cụm rạp.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Card 03"/>
          <p:cNvSpPr/>
          <p:nvPr/>
        </p:nvSpPr>
        <p:spPr>
          <a:xfrm>
            <a:off x="8055720" y="2484000"/>
            <a:ext cx="3492720" cy="171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Num 03"/>
          <p:cNvSpPr/>
          <p:nvPr/>
        </p:nvSpPr>
        <p:spPr>
          <a:xfrm>
            <a:off x="8238600" y="2646000"/>
            <a:ext cx="432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itle 03"/>
          <p:cNvSpPr/>
          <p:nvPr/>
        </p:nvSpPr>
        <p:spPr>
          <a:xfrm>
            <a:off x="8238600" y="2916000"/>
            <a:ext cx="3132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Sơ đồ 152 ghế &amp; giữ chỗ 5 phút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Desc 03"/>
          <p:cNvSpPr/>
          <p:nvPr/>
        </p:nvSpPr>
        <p:spPr>
          <a:xfrm>
            <a:off x="8238600" y="3240000"/>
            <a:ext cx="313200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12 hàng ghế Standard, VIP, Sweetbox; cần đăng nhập.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Card 04"/>
          <p:cNvSpPr/>
          <p:nvPr/>
        </p:nvSpPr>
        <p:spPr>
          <a:xfrm>
            <a:off x="594360" y="4392000"/>
            <a:ext cx="3492720" cy="171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Num 04"/>
          <p:cNvSpPr/>
          <p:nvPr/>
        </p:nvSpPr>
        <p:spPr>
          <a:xfrm>
            <a:off x="777240" y="4554000"/>
            <a:ext cx="432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itle 04"/>
          <p:cNvSpPr/>
          <p:nvPr/>
        </p:nvSpPr>
        <p:spPr>
          <a:xfrm>
            <a:off x="777240" y="4824000"/>
            <a:ext cx="3132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Combo Bắp nước &amp; Voucher ưu đãi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Desc 04"/>
          <p:cNvSpPr/>
          <p:nvPr/>
        </p:nvSpPr>
        <p:spPr>
          <a:xfrm>
            <a:off x="777240" y="5148000"/>
            <a:ext cx="313200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Chọn combo; server kiểm tra mã BETA10, BETA50, HAPPYTUE, BETA-U22.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Card 05"/>
          <p:cNvSpPr/>
          <p:nvPr/>
        </p:nvSpPr>
        <p:spPr>
          <a:xfrm>
            <a:off x="4325040" y="4392000"/>
            <a:ext cx="3492720" cy="171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Num 05"/>
          <p:cNvSpPr/>
          <p:nvPr/>
        </p:nvSpPr>
        <p:spPr>
          <a:xfrm>
            <a:off x="4507920" y="4554000"/>
            <a:ext cx="432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itle 05"/>
          <p:cNvSpPr/>
          <p:nvPr/>
        </p:nvSpPr>
        <p:spPr>
          <a:xfrm>
            <a:off x="4507920" y="4824000"/>
            <a:ext cx="3132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Checkout demo &amp; vé QR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Desc 05"/>
          <p:cNvSpPr/>
          <p:nvPr/>
        </p:nvSpPr>
        <p:spPr>
          <a:xfrm>
            <a:off x="4507920" y="5148000"/>
            <a:ext cx="313200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Thanh toán mô phỏng, đơn chờ Admin duyệt; vé có mã QR.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Card 06"/>
          <p:cNvSpPr/>
          <p:nvPr/>
        </p:nvSpPr>
        <p:spPr>
          <a:xfrm>
            <a:off x="8055720" y="4392000"/>
            <a:ext cx="3492720" cy="171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Num 06"/>
          <p:cNvSpPr/>
          <p:nvPr/>
        </p:nvSpPr>
        <p:spPr>
          <a:xfrm>
            <a:off x="8238600" y="4554000"/>
            <a:ext cx="432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itle 06"/>
          <p:cNvSpPr/>
          <p:nvPr/>
        </p:nvSpPr>
        <p:spPr>
          <a:xfrm>
            <a:off x="8238600" y="4824000"/>
            <a:ext cx="3132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Thành viên &amp; Cổng Admin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Desc 06"/>
          <p:cNvSpPr/>
          <p:nvPr/>
        </p:nvSpPr>
        <p:spPr>
          <a:xfrm>
            <a:off x="8238600" y="5148000"/>
            <a:ext cx="313200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Hội viên, điểm, voucher; Admin dùng JWT để duyệt đơn và check-in.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502920" y="2743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89B4FA"/>
                </a:solidFill>
                <a:effectLst/>
                <a:uFillTx/>
                <a:latin typeface="Arial"/>
              </a:rPr>
              <a:t>BETA CINEMAS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8229600" y="274320"/>
            <a:ext cx="3428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MVP     03 / 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11155680" y="6510600"/>
            <a:ext cx="4111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399B2"/>
                </a:solidFill>
                <a:effectLst/>
                <a:uFillTx/>
                <a:latin typeface="Arial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594360" y="777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9" strike="noStrike">
                <a:solidFill>
                  <a:srgbClr val="89B4FA"/>
                </a:solidFill>
                <a:effectLst/>
                <a:uFillTx/>
                <a:latin typeface="Arial"/>
              </a:rPr>
              <a:t>03 · MVP (MINIMUM VIABLE PRODUCT)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594360" y="10972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pc="-51" strike="noStrike">
                <a:solidFill>
                  <a:srgbClr val="CDD6F4"/>
                </a:solidFill>
                <a:effectLst/>
                <a:uFillTx/>
                <a:latin typeface="Arial"/>
              </a:rPr>
              <a:t>Phạm vi MVP: chức năng cốt lõi, kết quả và giới hạn.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Card Must Have"/>
          <p:cNvSpPr/>
          <p:nvPr/>
        </p:nvSpPr>
        <p:spPr>
          <a:xfrm>
            <a:off x="594360" y="2448000"/>
            <a:ext cx="5348880" cy="1584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itle Must Have"/>
          <p:cNvSpPr/>
          <p:nvPr/>
        </p:nvSpPr>
        <p:spPr>
          <a:xfrm>
            <a:off x="813960" y="2574000"/>
            <a:ext cx="4910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" strike="noStrike">
                <a:solidFill>
                  <a:srgbClr val="CDD6F4"/>
                </a:solidFill>
                <a:effectLst/>
                <a:uFillTx/>
                <a:latin typeface="Arial"/>
              </a:rPr>
              <a:t>1. MUST HAVE (YÊU CẦU CỐT LÕI)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Body Must Have"/>
          <p:cNvSpPr/>
          <p:nvPr/>
        </p:nvSpPr>
        <p:spPr>
          <a:xfrm>
            <a:off x="813960" y="2862000"/>
            <a:ext cx="4910040" cy="1116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Luồng vé: phim → suất → đăng nhập → ghế → checkout.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Server kiểm tra 152 ghế, giữ chỗ 5 phút.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Hội viên; Admin xác thực và phân quyền JWT.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Card Completed"/>
          <p:cNvSpPr/>
          <p:nvPr/>
        </p:nvSpPr>
        <p:spPr>
          <a:xfrm>
            <a:off x="594360" y="4122000"/>
            <a:ext cx="5348880" cy="162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itle Completed"/>
          <p:cNvSpPr/>
          <p:nvPr/>
        </p:nvSpPr>
        <p:spPr>
          <a:xfrm>
            <a:off x="813960" y="4230000"/>
            <a:ext cx="4910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" strike="noStrike">
                <a:solidFill>
                  <a:srgbClr val="CDD6F4"/>
                </a:solidFill>
                <a:effectLst/>
                <a:uFillTx/>
                <a:latin typeface="Arial"/>
              </a:rPr>
              <a:t>2. ĐÃ HOÀN THÀNH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Body Completed"/>
          <p:cNvSpPr/>
          <p:nvPr/>
        </p:nvSpPr>
        <p:spPr>
          <a:xfrm>
            <a:off x="813960" y="4518000"/>
            <a:ext cx="4910040" cy="1152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Hoàn thành 14/14 trang MPA, hỗ trợ desktop và mobile.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API giữ ghế, voucher, điểm; Admin duyệt đơn và check-in.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Card Pending"/>
          <p:cNvSpPr/>
          <p:nvPr/>
        </p:nvSpPr>
        <p:spPr>
          <a:xfrm>
            <a:off x="6236280" y="2448000"/>
            <a:ext cx="5348880" cy="1584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itle Pending"/>
          <p:cNvSpPr/>
          <p:nvPr/>
        </p:nvSpPr>
        <p:spPr>
          <a:xfrm>
            <a:off x="6455520" y="2574000"/>
            <a:ext cx="4910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" strike="noStrike">
                <a:solidFill>
                  <a:srgbClr val="CDD6F4"/>
                </a:solidFill>
                <a:effectLst/>
                <a:uFillTx/>
                <a:latin typeface="Arial"/>
              </a:rPr>
              <a:t>3. CHƯA HOÀN THÀNH GÌ? (HẠN CHẾ DEMO)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Body Pending"/>
          <p:cNvSpPr/>
          <p:nvPr/>
        </p:nvSpPr>
        <p:spPr>
          <a:xfrm>
            <a:off x="6455520" y="2862000"/>
            <a:ext cx="4910040" cy="1116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Checkout mới mô phỏng; chưa kết nối cổng thanh toán thật.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Ứng dụng chưa tự gửi vé qua email hoặc SMS.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Vercel dùng dữ liệu tạm; chưa có DB production.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Card Scoped Out"/>
          <p:cNvSpPr/>
          <p:nvPr/>
        </p:nvSpPr>
        <p:spPr>
          <a:xfrm>
            <a:off x="6236280" y="4122000"/>
            <a:ext cx="5348880" cy="162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itle Scoped Out"/>
          <p:cNvSpPr/>
          <p:nvPr/>
        </p:nvSpPr>
        <p:spPr>
          <a:xfrm>
            <a:off x="6455520" y="4230000"/>
            <a:ext cx="4910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" strike="noStrike">
                <a:solidFill>
                  <a:srgbClr val="CDD6F4"/>
                </a:solidFill>
                <a:effectLst/>
                <a:uFillTx/>
                <a:latin typeface="Arial"/>
              </a:rPr>
              <a:t>4. NHỮNG GÌ ĐÃ CẮT KHỎI SCOPE (TỐI ƯU MVP)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Body Scoped Out"/>
          <p:cNvSpPr/>
          <p:nvPr/>
        </p:nvSpPr>
        <p:spPr>
          <a:xfrm>
            <a:off x="6455520" y="4518000"/>
            <a:ext cx="4910040" cy="1152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Đặt vé theo nhóm chia tiền (Split-bill): Cắt để ưu tiên luồng đặt vé nhanh.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Đặt trước xe đưa đón rạp: Cắt vì không thuộc nghiệp vụ cốt lõi rạp phim.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Mạng xã hội bình luận đa cấp: Thay bằng trailer YouTube &amp; đánh giá trực tiếp.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Footer MVP"/>
          <p:cNvSpPr/>
          <p:nvPr/>
        </p:nvSpPr>
        <p:spPr>
          <a:xfrm>
            <a:off x="658440" y="587052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Demo được luồng chính; thanh toán và lưu trữ production đang phát triển.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502920" y="2743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89B4FA"/>
                </a:solidFill>
                <a:effectLst/>
                <a:uFillTx/>
                <a:latin typeface="Arial"/>
              </a:rPr>
              <a:t>BETA CINEMAS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8229600" y="274320"/>
            <a:ext cx="3428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SOLUTION     04 / 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11155680" y="6510600"/>
            <a:ext cx="4111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399B2"/>
                </a:solidFill>
                <a:effectLst/>
                <a:uFillTx/>
                <a:latin typeface="Arial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94360" y="777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9" strike="noStrike">
                <a:solidFill>
                  <a:srgbClr val="89B4FA"/>
                </a:solidFill>
                <a:effectLst/>
                <a:uFillTx/>
                <a:latin typeface="Arial"/>
              </a:rPr>
              <a:t>04 · SOLUTION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594360" y="10972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pc="-51" strike="noStrike">
                <a:solidFill>
                  <a:srgbClr val="CDD6F4"/>
                </a:solidFill>
                <a:effectLst/>
                <a:uFillTx/>
                <a:latin typeface="Arial"/>
              </a:rPr>
              <a:t>Vite MPA · Bun · REST API · Vercel.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685800" y="2514600"/>
            <a:ext cx="1919880" cy="804240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13960" y="2642760"/>
            <a:ext cx="1691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HTML5 / SCSS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813960" y="2953440"/>
            <a:ext cx="166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14 trang MPA, SCSS, giao diện desktop/mobile.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2770560" y="2514600"/>
            <a:ext cx="1919880" cy="804240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2898720" y="2642760"/>
            <a:ext cx="1691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Vanilla JS &amp; Bun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2898720" y="2953440"/>
            <a:ext cx="166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Vanilla JavaScript; Bun cho backend và công cụ.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685800" y="3538800"/>
            <a:ext cx="1919880" cy="804240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813960" y="3666600"/>
            <a:ext cx="1691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json-server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813960" y="3977640"/>
            <a:ext cx="166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API cho phim, suất, rạp, combo, vé và tài khoản.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5"/>
          <p:cNvSpPr/>
          <p:nvPr/>
        </p:nvSpPr>
        <p:spPr>
          <a:xfrm>
            <a:off x="2770560" y="3538800"/>
            <a:ext cx="1919880" cy="804240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2898720" y="3666600"/>
            <a:ext cx="1691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json-server-auth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2898720" y="3977640"/>
            <a:ext cx="166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JWT, bcrypt, đăng nhập email/điện thoại, phân quyền.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5074920" y="2541960"/>
            <a:ext cx="6217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CÁC MODULE CHÍNH (14 TRANG MPA)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8"/>
          <p:cNvSpPr/>
          <p:nvPr/>
        </p:nvSpPr>
        <p:spPr>
          <a:xfrm>
            <a:off x="5074920" y="2807280"/>
            <a:ext cx="6263280" cy="540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Khách hàng: 11 trang; Admin và tiện ích: 3 trang.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Admin: 5 tab duyệt đơn/check-in · 404 · error.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5074920" y="3392280"/>
            <a:ext cx="6126480" cy="360"/>
          </a:xfrm>
          <a:prstGeom prst="line">
            <a:avLst/>
          </a:prstGeom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5074920" y="3575160"/>
            <a:ext cx="6217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DATA &amp; REST API CHÍNH (DB.JSON TẬP TRUNG)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5074920" y="3840480"/>
            <a:ext cx="6263280" cy="540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Dữ liệu: 11 phim · 10 rạp · 11 lịch · 11 combo · vé · hội viên.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api.js và storage.js đồng bộ API với giao diện.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5"/>
          <p:cNvSpPr/>
          <p:nvPr/>
        </p:nvSpPr>
        <p:spPr>
          <a:xfrm>
            <a:off x="5074920" y="4425480"/>
            <a:ext cx="6126480" cy="360"/>
          </a:xfrm>
          <a:prstGeom prst="line">
            <a:avLst/>
          </a:prstGeom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5074920" y="4608720"/>
            <a:ext cx="6217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LOGIN &amp; ADMIN PORTAL (TRÌNH BÀY NGẮN)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5074920" y="4873680"/>
            <a:ext cx="3528000" cy="1008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JWT phân quyền User/Admin.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• Admin xử lý đơn &amp; check-in.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5074920" y="5458680"/>
            <a:ext cx="6126480" cy="360"/>
          </a:xfrm>
          <a:prstGeom prst="line">
            <a:avLst/>
          </a:prstGeom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CardPreviewAdmin"/>
          <p:cNvSpPr/>
          <p:nvPr/>
        </p:nvSpPr>
        <p:spPr>
          <a:xfrm>
            <a:off x="8712000" y="4500000"/>
            <a:ext cx="2664000" cy="1584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PreviewAdmin"/>
          <p:cNvPicPr/>
          <p:nvPr/>
        </p:nvPicPr>
        <p:blipFill>
          <a:blip r:embed="rId1"/>
          <a:stretch/>
        </p:blipFill>
        <p:spPr>
          <a:xfrm>
            <a:off x="8766000" y="4554000"/>
            <a:ext cx="2556000" cy="1476000"/>
          </a:xfrm>
          <a:prstGeom prst="rect">
            <a:avLst/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02920" y="2743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89B4FA"/>
                </a:solidFill>
                <a:effectLst/>
                <a:uFillTx/>
                <a:latin typeface="Arial"/>
              </a:rPr>
              <a:t>BETA CINEMAS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8229600" y="274320"/>
            <a:ext cx="3428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DEMO     05 / 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11155680" y="6510600"/>
            <a:ext cx="4111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399B2"/>
                </a:solidFill>
                <a:effectLst/>
                <a:uFillTx/>
                <a:latin typeface="Arial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594360" y="777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9" strike="noStrike">
                <a:solidFill>
                  <a:srgbClr val="89B4FA"/>
                </a:solidFill>
                <a:effectLst/>
                <a:uFillTx/>
                <a:latin typeface="Arial"/>
              </a:rPr>
              <a:t>05 · DEMO · HAPPY PATH 3–5 PHÚT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594360" y="10972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pc="-51" strike="noStrike">
                <a:solidFill>
                  <a:srgbClr val="CDD6F4"/>
                </a:solidFill>
                <a:effectLst/>
                <a:uFillTx/>
                <a:latin typeface="Arial"/>
              </a:rPr>
              <a:t>Demo đặt vé, thanh toán mô phỏng và duyệt đơn.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6"/>
          <p:cNvSpPr/>
          <p:nvPr/>
        </p:nvSpPr>
        <p:spPr>
          <a:xfrm>
            <a:off x="685800" y="2514600"/>
            <a:ext cx="6491880" cy="566640"/>
          </a:xfrm>
          <a:prstGeom prst="roundRect">
            <a:avLst>
              <a:gd name="adj" fmla="val 9677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914400" y="267912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1508760" y="265176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Tìm phim, chọn rạp, ngày và suất.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685800" y="3227760"/>
            <a:ext cx="6491880" cy="566640"/>
          </a:xfrm>
          <a:prstGeom prst="roundRect">
            <a:avLst>
              <a:gd name="adj" fmla="val 9677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914400" y="33922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02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1508760" y="336492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Đăng nhập; chọn ghế và giữ chỗ 5 phút.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685800" y="3940920"/>
            <a:ext cx="6491880" cy="566640"/>
          </a:xfrm>
          <a:prstGeom prst="roundRect">
            <a:avLst>
              <a:gd name="adj" fmla="val 9677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914400" y="41058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1508760" y="407808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Chọn combo; server kiểm tra voucher.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685800" y="4654440"/>
            <a:ext cx="6491880" cy="566640"/>
          </a:xfrm>
          <a:prstGeom prst="roundRect">
            <a:avLst>
              <a:gd name="adj" fmla="val 9677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914400" y="481896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04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1508760" y="479160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Tạo đơn chờ duyệt; Admin xác nhận và check-in QR.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10241280" y="34930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CDD6F4"/>
                </a:solidFill>
                <a:effectLst/>
                <a:uFillTx/>
                <a:latin typeface="Arial"/>
              </a:rPr>
              <a:t>PHÚT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ard Demo Right"/>
          <p:cNvSpPr/>
          <p:nvPr/>
        </p:nvSpPr>
        <p:spPr>
          <a:xfrm>
            <a:off x="7560000" y="3384000"/>
            <a:ext cx="4104000" cy="2340000"/>
          </a:xfrm>
          <a:prstGeom prst="roundRect">
            <a:avLst>
              <a:gd name="adj" fmla="val 5634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PreviewBooking"/>
          <p:cNvPicPr/>
          <p:nvPr/>
        </p:nvPicPr>
        <p:blipFill>
          <a:blip r:embed="rId1"/>
          <a:stretch/>
        </p:blipFill>
        <p:spPr>
          <a:xfrm>
            <a:off x="7632000" y="3438000"/>
            <a:ext cx="3960000" cy="2232000"/>
          </a:xfrm>
          <a:prstGeom prst="rect">
            <a:avLst/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</p:pic>
      <p:sp>
        <p:nvSpPr>
          <p:cNvPr id="129" name="CaptionBooking"/>
          <p:cNvSpPr/>
          <p:nvPr/>
        </p:nvSpPr>
        <p:spPr>
          <a:xfrm>
            <a:off x="7560000" y="5760000"/>
            <a:ext cx="410400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89B4FA"/>
                </a:solidFill>
                <a:effectLst/>
                <a:uFillTx/>
                <a:latin typeface="Arial"/>
              </a:rPr>
              <a:t>HAPPY PATH: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Sơ đồ 152 ghế &amp; giữ chỗ 5 phút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900" b="0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Thẻ thành viên · Hồ sơ tra cứu vé · Admin 5 tab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89B4FA"/>
          </a:solidFill>
          <a:ln w="12600">
            <a:solidFill>
              <a:srgbClr val="89B4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02920" y="2743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89B4FA"/>
                </a:solidFill>
                <a:effectLst/>
                <a:uFillTx/>
                <a:latin typeface="Arial"/>
              </a:rPr>
              <a:t>BETA CINEMAS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8229600" y="274320"/>
            <a:ext cx="3428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A6ADC8"/>
                </a:solidFill>
                <a:effectLst/>
                <a:uFillTx/>
                <a:latin typeface="Arial"/>
              </a:rPr>
              <a:t>TEAM &amp; GIT     06 / 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11155680" y="6510600"/>
            <a:ext cx="4111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399B2"/>
                </a:solidFill>
                <a:effectLst/>
                <a:uFillTx/>
                <a:latin typeface="Arial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594360" y="7772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9" strike="noStrike">
                <a:solidFill>
                  <a:srgbClr val="89B4FA"/>
                </a:solidFill>
                <a:effectLst/>
                <a:uFillTx/>
                <a:latin typeface="Arial"/>
              </a:rPr>
              <a:t>06 · TEAM &amp; GIT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594360" y="10972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pc="-51" strike="noStrike">
                <a:solidFill>
                  <a:srgbClr val="CDD6F4"/>
                </a:solidFill>
                <a:effectLst/>
                <a:uFillTx/>
                <a:latin typeface="Arial"/>
              </a:rPr>
              <a:t>Thành viên, phối hợp mã nguồn và bước phát triển tiếp theo.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594360" y="2423160"/>
            <a:ext cx="5531760" cy="3492000"/>
          </a:xfrm>
          <a:prstGeom prst="roundRect">
            <a:avLst>
              <a:gd name="adj" fmla="val 2162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813960" y="2624400"/>
            <a:ext cx="509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" strike="noStrike">
                <a:solidFill>
                  <a:srgbClr val="CDD6F4"/>
                </a:solidFill>
                <a:effectLst/>
                <a:uFillTx/>
                <a:latin typeface="Arial"/>
              </a:rPr>
              <a:t>THÀNH VIÊN HIỆN TẠI &amp; PHÂN CÔNG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831960" y="30906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1115640" y="3090600"/>
            <a:ext cx="47545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Nguyễn Văn Trọng — Kiến trúc hệ thống: MPA, REST API, xác thực và triển khai Vercel.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831960" y="3822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1115640" y="3822120"/>
            <a:ext cx="47545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Vũ Tiến Lập (PH65133) — Frontend: Checkout, combo, bảng giá, tin tức và rạp.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831960" y="455364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1115640" y="4553640"/>
            <a:ext cx="47545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Phạm Anh Duy (PH65717) — Tính năng: Đặt ghế/giữ chỗ, voucher, thành viên và công cụ Admin.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914400" y="51663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GitHub repository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914400" y="5413320"/>
            <a:ext cx="47545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sng" strike="noStrike">
                <a:solidFill>
                  <a:srgbClr val="89B4FA"/>
                </a:solidFill>
                <a:effectLst/>
                <a:uFillTx/>
                <a:latin typeface="Arial"/>
                <a:hlinkClick r:id="rId1"/>
              </a:rPr>
              <a:t>github.com/AsakiYuki/web2064-fa26</a:t>
            </a:r>
            <a:r>
              <a:rPr lang="en-US" sz="900" b="0" u="none" strike="noStrike">
                <a:solidFill>
                  <a:srgbClr val="A6ADC8"/>
                </a:solidFill>
                <a:effectLst/>
                <a:uFillTx/>
                <a:latin typeface="Arial"/>
              </a:rPr>
              <a:t> (mã nguồn dự án)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6355080" y="2423160"/>
            <a:ext cx="5230080" cy="3492000"/>
          </a:xfrm>
          <a:prstGeom prst="roundRect">
            <a:avLst>
              <a:gd name="adj" fmla="val 2162"/>
            </a:avLst>
          </a:prstGeom>
          <a:solidFill>
            <a:srgbClr val="313244"/>
          </a:solidFill>
          <a:ln w="12600">
            <a:solidFill>
              <a:srgbClr val="4547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6574680" y="2624400"/>
            <a:ext cx="47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" strike="noStrike">
                <a:solidFill>
                  <a:srgbClr val="CDD6F4"/>
                </a:solidFill>
                <a:effectLst/>
                <a:uFillTx/>
                <a:latin typeface="Arial"/>
              </a:rPr>
              <a:t>KHÓ KHĂN LỚN NHẤT &amp; CÁCH GIẢI QUYẾT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6592680" y="30906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6876360" y="3090600"/>
            <a:ext cx="445284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Khó khăn: Đồng bộ trạng thái ghế và đơn giữa UI, API, Vercel.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6592680" y="3822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6876360" y="3822120"/>
            <a:ext cx="445284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Xử lý: Server xác nhận giữ ghế/checkout; api.js, storage.js đồng bộ UI.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itle Next Steps"/>
          <p:cNvSpPr/>
          <p:nvPr/>
        </p:nvSpPr>
        <p:spPr>
          <a:xfrm>
            <a:off x="6574680" y="4500000"/>
            <a:ext cx="47912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" strike="noStrike">
                <a:solidFill>
                  <a:srgbClr val="CDD6F4"/>
                </a:solidFill>
                <a:effectLst/>
                <a:uFillTx/>
                <a:latin typeface="Arial"/>
              </a:rPr>
              <a:t>KẾ HOẠCH GIAI ĐOẠN TIẾP THEO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Body Next Steps"/>
          <p:cNvSpPr/>
          <p:nvPr/>
        </p:nvSpPr>
        <p:spPr>
          <a:xfrm>
            <a:off x="6574680" y="4770000"/>
            <a:ext cx="4791240" cy="900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Tích hợp thanh toán thật qua webhook.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Thêm DB production và gửi vé qua email/SMS.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Arial"/>
              </a:rPr>
              <a:t>• </a:t>
            </a:r>
            <a:r>
              <a:rPr lang="en-US" sz="1050" b="0" u="none" strike="noStrike">
                <a:solidFill>
                  <a:srgbClr val="CDD6F4"/>
                </a:solidFill>
                <a:effectLst/>
                <a:uFillTx/>
                <a:latin typeface="Arial"/>
              </a:rPr>
              <a:t>Mở rộng Admin: sơ đồ phòng và chiến dịch ưu đãi.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LibreOffice/26.2.1.2$Linux_X86_64 LibreOffice_project/620$Build-2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2026-10-01T12:08:08Z</dcterms:created>
  <dc:creator>WEB2064</dc:creator>
  <dc:description/>
  <dc:language>en-US</dc:language>
  <cp:lastModifiedBy/>
  <dcterms:modified xsi:type="dcterms:W3CDTF">2026-10-04T15:57:48Z</dcterms:modified>
  <cp:revision>5</cp:revision>
  <dc:subject>Website đặt vé xem phim</dc:subject>
  <dc:title>Beta Cinemas — Thuyết trình dự án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