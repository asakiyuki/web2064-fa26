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6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" cy="5143500"/>
          </a:xfrm>
          <a:prstGeom prst="rect">
            <a:avLst/>
          </a:prstGeom>
          <a:solidFill>
            <a:srgbClr val="015198"/>
          </a:solidFill>
          <a:ln/>
        </p:spPr>
      </p:sp>
      <p:sp>
        <p:nvSpPr>
          <p:cNvPr id="3" name="Shape 1"/>
          <p:cNvSpPr/>
          <p:nvPr/>
        </p:nvSpPr>
        <p:spPr>
          <a:xfrm>
            <a:off x="6858000" y="-914400"/>
            <a:ext cx="3657600" cy="3657600"/>
          </a:xfrm>
          <a:prstGeom prst="ellipse">
            <a:avLst/>
          </a:prstGeom>
          <a:solidFill>
            <a:srgbClr val="015198">
              <a:alpha val="15000"/>
            </a:srgbClr>
          </a:solidFill>
          <a:ln/>
        </p:spPr>
      </p:sp>
      <p:pic>
        <p:nvPicPr>
          <p:cNvPr id="4" name="Image 0" descr="/home/asakiyuki/.gemini/antigravity-ide/brain/9a166504-6680-403f-8ded-ae62c5305916/scratch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731520"/>
            <a:ext cx="2011680" cy="8229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14400" y="17373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BÁO CÁO TỔNG KẾT ĐỒ ÁN MÔN HỌC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914400" y="2103120"/>
            <a:ext cx="77724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HỆ THỐNG ĐẶT VÉ XEM PHIM &amp; QUẢN LÝ CỤM RẠP</a:t>
            </a:r>
            <a:endParaRPr lang="en-US" sz="2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BETA CINEMAS</a:t>
            </a:r>
            <a:endParaRPr lang="en-US" sz="2800" dirty="0"/>
          </a:p>
        </p:txBody>
      </p:sp>
      <p:sp>
        <p:nvSpPr>
          <p:cNvPr id="7" name="Text 4"/>
          <p:cNvSpPr/>
          <p:nvPr/>
        </p:nvSpPr>
        <p:spPr>
          <a:xfrm>
            <a:off x="914400" y="33832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Môn học: WEB2064 - Thiết Kế &amp; Lập Trình Giao Diện Web Hiện Đại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914400" y="3886200"/>
            <a:ext cx="7315200" cy="777240"/>
          </a:xfrm>
          <a:prstGeom prst="roundRect">
            <a:avLst>
              <a:gd name="adj" fmla="val 11765"/>
            </a:avLst>
          </a:prstGeom>
          <a:solidFill>
            <a:srgbClr val="0F1F38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097280" y="3977640"/>
            <a:ext cx="6949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Sinh viên: </a:t>
            </a:r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Trần Văn Trọng (Asaki Yuki)  |  </a:t>
            </a:r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GVHD: </a:t>
            </a:r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Giảng viên Bộ Môn CNTT
</a:t>
            </a:r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Kỳ: </a:t>
            </a:r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FA26  |  </a:t>
            </a:r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Đơn vị: </a:t>
            </a:r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Trường Cao đẳng FPT Polytechnic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015198"/>
          </a:solidFill>
          <a:ln/>
        </p:spPr>
      </p:sp>
      <p:pic>
        <p:nvPicPr>
          <p:cNvPr id="3" name="Image 0" descr="/home/asakiyuki/.gemini/antigravity-ide/brain/9a166504-6680-403f-8ded-ae62c5305916/scratch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80960" y="228600"/>
            <a:ext cx="1005840" cy="411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48640" y="228600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284C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TỔNG QUAN ĐỀ TÀI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548640" y="457200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A192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1. Đặt Vấn Đề &amp; Tính Cấp Thiết Của Đề Tài</a:t>
            </a:r>
            <a:endParaRPr lang="en-US" sz="2000" dirty="0"/>
          </a:p>
        </p:txBody>
      </p:sp>
      <p:sp>
        <p:nvSpPr>
          <p:cNvPr id="6" name="Shape 3"/>
          <p:cNvSpPr/>
          <p:nvPr/>
        </p:nvSpPr>
        <p:spPr>
          <a:xfrm>
            <a:off x="548640" y="960120"/>
            <a:ext cx="80467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48640" y="4846320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Hệ Thống Đặt Vé Beta Cinemas • WEB2064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548640" y="1188720"/>
            <a:ext cx="2560320" cy="3383280"/>
          </a:xfrm>
          <a:prstGeom prst="roundRect">
            <a:avLst>
              <a:gd name="adj" fmla="val 535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31520" y="137160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1519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🎬 BỐI CẢNH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731520" y="1737360"/>
            <a:ext cx="219456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Nhu cầu giải trí rạp chiếu phim bùng nổ.</a:t>
            </a: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90% người dùng chuyển sang đặt vé trực tuyến.</a:t>
            </a: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Beta Cinemas phát triển nhanh với tệp khách hàng trẻ.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3291840" y="1188720"/>
            <a:ext cx="2560320" cy="3383280"/>
          </a:xfrm>
          <a:prstGeom prst="roundRect">
            <a:avLst>
              <a:gd name="adj" fmla="val 535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3474720" y="137160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394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⚠️ HẠN CHẾ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3474720" y="1737360"/>
            <a:ext cx="219456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Tốc độ tải chậm do script bên thứ ba.</a:t>
            </a: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Mobile chưa tối ưu, sơ đồ ghế khó chạm.</a:t>
            </a: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Quy trình đặt vé rườm rà nhiều bước.</a:t>
            </a: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Thiếu bộ đếm thời gian giữ vé.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6035040" y="1188720"/>
            <a:ext cx="2560320" cy="3383280"/>
          </a:xfrm>
          <a:prstGeom prst="roundRect">
            <a:avLst>
              <a:gd name="adj" fmla="val 5357"/>
            </a:avLst>
          </a:prstGeom>
          <a:solidFill>
            <a:srgbClr val="F0F9FF"/>
          </a:solidFill>
          <a:ln w="19050">
            <a:solidFill>
              <a:srgbClr val="BAE6FD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217920" y="137160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84C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💡 GIẢI PHÁP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6217920" y="1737360"/>
            <a:ext cx="219456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Web MPA mượt mà, tải &lt;500ms.</a:t>
            </a: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Giao diện chuẩn nhận diện Beta Cinemas.</a:t>
            </a: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Sơ đồ ghế thông minh chặn ghế trống đơn.</a:t>
            </a: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Xuất vé QR Code tức thì.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015198"/>
          </a:solidFill>
          <a:ln/>
        </p:spPr>
      </p:sp>
      <p:pic>
        <p:nvPicPr>
          <p:cNvPr id="3" name="Image 0" descr="/home/asakiyuki/.gemini/antigravity-ide/brain/9a166504-6680-403f-8ded-ae62c5305916/scratch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80960" y="228600"/>
            <a:ext cx="1005840" cy="411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48640" y="228600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284C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MỤC TIÊU DỰ ÁN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548640" y="457200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A192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2. Mục Tiêu &amp; Phạm Vi Triển Khai</a:t>
            </a:r>
            <a:endParaRPr lang="en-US" sz="2000" dirty="0"/>
          </a:p>
        </p:txBody>
      </p:sp>
      <p:sp>
        <p:nvSpPr>
          <p:cNvPr id="6" name="Shape 3"/>
          <p:cNvSpPr/>
          <p:nvPr/>
        </p:nvSpPr>
        <p:spPr>
          <a:xfrm>
            <a:off x="548640" y="960120"/>
            <a:ext cx="80467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48640" y="4846320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Hệ Thống Đặt Vé Beta Cinemas • WEB2064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548640" y="1188720"/>
            <a:ext cx="3886200" cy="3383280"/>
          </a:xfrm>
          <a:prstGeom prst="roundRect">
            <a:avLst>
              <a:gd name="adj" fmla="val 405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22960" y="141732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1519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🎯 MỤC TIÊU NGƯỜI DÙNG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822960" y="1828800"/>
            <a:ext cx="338328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Tra cứu lịch chiếu, giá vé, trailer tức thì.</a:t>
            </a: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Đặt vé 3 bước: Chọn suất → Chọn ghế &amp; bắp nước → Thanh toán nhận QR.</a:t>
            </a: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Đăng ký/đăng nhập, tích điểm Beta Member.</a:t>
            </a: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Mượt mà trên PC, Tablet và Mobile.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4709160" y="1188720"/>
            <a:ext cx="3886200" cy="3383280"/>
          </a:xfrm>
          <a:prstGeom prst="roundRect">
            <a:avLst>
              <a:gd name="adj" fmla="val 405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983480" y="141732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84C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⚙️ MỤC TIÊU KỸ THUẬT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4983480" y="1828800"/>
            <a:ext cx="338328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Kiến trúc MPA tối ưu SEO, URL thân thiện.</a:t>
            </a: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Thuần HTML5, SCSS/CSS3, JS ES6+ không thư viện cồng kềnh.</a:t>
            </a: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Validate form nghiêm ngặt, LocalStorage an toàn.</a:t>
            </a: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Tự động điều hướng 404/500 khi nhập sai URL.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015198"/>
          </a:solidFill>
          <a:ln/>
        </p:spPr>
      </p:sp>
      <p:pic>
        <p:nvPicPr>
          <p:cNvPr id="3" name="Image 0" descr="/home/asakiyuki/.gemini/antigravity-ide/brain/9a166504-6680-403f-8ded-ae62c5305916/scratch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80960" y="228600"/>
            <a:ext cx="1005840" cy="411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48640" y="228600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284C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CÔNG NGHỆ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548640" y="457200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A192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3. Kiến Trúc Kỹ Thuật &amp; Công Nghệ Sử Dụng</a:t>
            </a:r>
            <a:endParaRPr lang="en-US" sz="2000" dirty="0"/>
          </a:p>
        </p:txBody>
      </p:sp>
      <p:sp>
        <p:nvSpPr>
          <p:cNvPr id="6" name="Shape 3"/>
          <p:cNvSpPr/>
          <p:nvPr/>
        </p:nvSpPr>
        <p:spPr>
          <a:xfrm>
            <a:off x="548640" y="960120"/>
            <a:ext cx="80467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48640" y="4846320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Hệ Thống Đặt Vé Beta Cinemas • WEB2064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548640" y="1188720"/>
            <a:ext cx="1920240" cy="32918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143000" y="1417320"/>
            <a:ext cx="731520" cy="731520"/>
          </a:xfrm>
          <a:prstGeom prst="ellipse">
            <a:avLst/>
          </a:prstGeom>
          <a:solidFill>
            <a:srgbClr val="E44D26">
              <a:alpha val="15000"/>
            </a:srgbClr>
          </a:solidFill>
          <a:ln/>
        </p:spPr>
      </p:sp>
      <p:sp>
        <p:nvSpPr>
          <p:cNvPr id="10" name="Text 7"/>
          <p:cNvSpPr/>
          <p:nvPr/>
        </p:nvSpPr>
        <p:spPr>
          <a:xfrm>
            <a:off x="1143000" y="1463040"/>
            <a:ext cx="731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🌐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640080" y="2286000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A192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HTML5 Semantic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685800" y="2743200"/>
            <a:ext cx="164592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Cấu trúc chuẩn SEO, thẻ ngữ nghĩa header, nav, main, section, article, footer.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2606040" y="1188720"/>
            <a:ext cx="1920240" cy="32918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3200400" y="1417320"/>
            <a:ext cx="731520" cy="731520"/>
          </a:xfrm>
          <a:prstGeom prst="ellipse">
            <a:avLst/>
          </a:prstGeom>
          <a:solidFill>
            <a:srgbClr val="CD6799">
              <a:alpha val="15000"/>
            </a:srgbClr>
          </a:solidFill>
          <a:ln/>
        </p:spPr>
      </p:sp>
      <p:sp>
        <p:nvSpPr>
          <p:cNvPr id="15" name="Text 12"/>
          <p:cNvSpPr/>
          <p:nvPr/>
        </p:nvSpPr>
        <p:spPr>
          <a:xfrm>
            <a:off x="3200400" y="1463040"/>
            <a:ext cx="731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🎨</a:t>
            </a:r>
            <a:endParaRPr lang="en-US" sz="2200" dirty="0"/>
          </a:p>
        </p:txBody>
      </p:sp>
      <p:sp>
        <p:nvSpPr>
          <p:cNvPr id="16" name="Text 13"/>
          <p:cNvSpPr/>
          <p:nvPr/>
        </p:nvSpPr>
        <p:spPr>
          <a:xfrm>
            <a:off x="2697480" y="2286000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A192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SCSS / CSS3</a:t>
            </a:r>
            <a:endParaRPr lang="en-US" sz="1250" dirty="0"/>
          </a:p>
        </p:txBody>
      </p:sp>
      <p:sp>
        <p:nvSpPr>
          <p:cNvPr id="17" name="Text 14"/>
          <p:cNvSpPr/>
          <p:nvPr/>
        </p:nvSpPr>
        <p:spPr>
          <a:xfrm>
            <a:off x="2743200" y="2743200"/>
            <a:ext cx="164592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CSS Grid &amp; Flexbox, Custom Properties, Glassmorphism, Micro-animations, Responsive.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4663440" y="1188720"/>
            <a:ext cx="1920240" cy="32918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5257800" y="1417320"/>
            <a:ext cx="731520" cy="731520"/>
          </a:xfrm>
          <a:prstGeom prst="ellipse">
            <a:avLst/>
          </a:prstGeom>
          <a:solidFill>
            <a:srgbClr val="F59E0B">
              <a:alpha val="15000"/>
            </a:srgbClr>
          </a:solidFill>
          <a:ln/>
        </p:spPr>
      </p:sp>
      <p:sp>
        <p:nvSpPr>
          <p:cNvPr id="20" name="Text 17"/>
          <p:cNvSpPr/>
          <p:nvPr/>
        </p:nvSpPr>
        <p:spPr>
          <a:xfrm>
            <a:off x="5257800" y="1463040"/>
            <a:ext cx="731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⚡</a:t>
            </a:r>
            <a:endParaRPr lang="en-US" sz="2200" dirty="0"/>
          </a:p>
        </p:txBody>
      </p:sp>
      <p:sp>
        <p:nvSpPr>
          <p:cNvPr id="21" name="Text 18"/>
          <p:cNvSpPr/>
          <p:nvPr/>
        </p:nvSpPr>
        <p:spPr>
          <a:xfrm>
            <a:off x="4754880" y="2286000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A192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JavaScript ES6+</a:t>
            </a:r>
            <a:endParaRPr lang="en-US" sz="1250" dirty="0"/>
          </a:p>
        </p:txBody>
      </p:sp>
      <p:sp>
        <p:nvSpPr>
          <p:cNvPr id="22" name="Text 19"/>
          <p:cNvSpPr/>
          <p:nvPr/>
        </p:nvSpPr>
        <p:spPr>
          <a:xfrm>
            <a:off x="4800600" y="2743200"/>
            <a:ext cx="164592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ES Modules, Async/Await, State Management, LocalStorage, DOM Manipulation.</a:t>
            </a:r>
            <a:endParaRPr lang="en-US" sz="1050" dirty="0"/>
          </a:p>
        </p:txBody>
      </p:sp>
      <p:sp>
        <p:nvSpPr>
          <p:cNvPr id="23" name="Shape 20"/>
          <p:cNvSpPr/>
          <p:nvPr/>
        </p:nvSpPr>
        <p:spPr>
          <a:xfrm>
            <a:off x="6720840" y="1188720"/>
            <a:ext cx="1920240" cy="32918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7315200" y="1417320"/>
            <a:ext cx="731520" cy="731520"/>
          </a:xfrm>
          <a:prstGeom prst="ellipse">
            <a:avLst/>
          </a:prstGeom>
          <a:solidFill>
            <a:srgbClr val="646CFF">
              <a:alpha val="15000"/>
            </a:srgbClr>
          </a:solidFill>
          <a:ln/>
        </p:spPr>
      </p:sp>
      <p:sp>
        <p:nvSpPr>
          <p:cNvPr id="25" name="Text 22"/>
          <p:cNvSpPr/>
          <p:nvPr/>
        </p:nvSpPr>
        <p:spPr>
          <a:xfrm>
            <a:off x="7315200" y="1463040"/>
            <a:ext cx="731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🚀</a:t>
            </a:r>
            <a:endParaRPr lang="en-US" sz="2200" dirty="0"/>
          </a:p>
        </p:txBody>
      </p:sp>
      <p:sp>
        <p:nvSpPr>
          <p:cNvPr id="26" name="Text 23"/>
          <p:cNvSpPr/>
          <p:nvPr/>
        </p:nvSpPr>
        <p:spPr>
          <a:xfrm>
            <a:off x="6812280" y="2286000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A192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Vite 8.3</a:t>
            </a:r>
            <a:endParaRPr lang="en-US" sz="1250" dirty="0"/>
          </a:p>
        </p:txBody>
      </p:sp>
      <p:sp>
        <p:nvSpPr>
          <p:cNvPr id="27" name="Text 24"/>
          <p:cNvSpPr/>
          <p:nvPr/>
        </p:nvSpPr>
        <p:spPr>
          <a:xfrm>
            <a:off x="6858000" y="2743200"/>
            <a:ext cx="164592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HMR siêu tốc, Rollup bundler tối ưu, plugin router 404 middleware.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015198"/>
          </a:solidFill>
          <a:ln/>
        </p:spPr>
      </p:sp>
      <p:pic>
        <p:nvPicPr>
          <p:cNvPr id="3" name="Image 0" descr="/home/asakiyuki/.gemini/antigravity-ide/brain/9a166504-6680-403f-8ded-ae62c5305916/scratch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80960" y="228600"/>
            <a:ext cx="1005840" cy="411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48640" y="228600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284C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LUỒNG NGƯỜI DÙNG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548640" y="457200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A192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4. Sơ Đồ Cấu Trúc Website &amp; Quy Trình Trải Nghiệm</a:t>
            </a:r>
            <a:endParaRPr lang="en-US" sz="2000" dirty="0"/>
          </a:p>
        </p:txBody>
      </p:sp>
      <p:sp>
        <p:nvSpPr>
          <p:cNvPr id="6" name="Shape 3"/>
          <p:cNvSpPr/>
          <p:nvPr/>
        </p:nvSpPr>
        <p:spPr>
          <a:xfrm>
            <a:off x="548640" y="960120"/>
            <a:ext cx="80467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48640" y="4846320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Hệ Thống Đặt Vé Beta Cinemas • WEB2064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548640" y="1234440"/>
            <a:ext cx="804672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685800" y="1325880"/>
            <a:ext cx="548640" cy="365760"/>
          </a:xfrm>
          <a:prstGeom prst="roundRect">
            <a:avLst>
              <a:gd name="adj" fmla="val 15000"/>
            </a:avLst>
          </a:prstGeom>
          <a:solidFill>
            <a:srgbClr val="015198"/>
          </a:solidFill>
          <a:ln/>
        </p:spPr>
      </p:sp>
      <p:sp>
        <p:nvSpPr>
          <p:cNvPr id="10" name="Text 7"/>
          <p:cNvSpPr/>
          <p:nvPr/>
        </p:nvSpPr>
        <p:spPr>
          <a:xfrm>
            <a:off x="685800" y="132588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01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1371600" y="137160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A192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Khám Phá &amp; Chọn Phim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3840480" y="13716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Trang chủ, Mega Menu, danh sách phim hot, lọc theo thể loại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548640" y="1892808"/>
            <a:ext cx="804672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685800" y="1984248"/>
            <a:ext cx="548640" cy="365760"/>
          </a:xfrm>
          <a:prstGeom prst="roundRect">
            <a:avLst>
              <a:gd name="adj" fmla="val 15000"/>
            </a:avLst>
          </a:prstGeom>
          <a:solidFill>
            <a:srgbClr val="015198"/>
          </a:solidFill>
          <a:ln/>
        </p:spPr>
      </p:sp>
      <p:sp>
        <p:nvSpPr>
          <p:cNvPr id="15" name="Text 12"/>
          <p:cNvSpPr/>
          <p:nvPr/>
        </p:nvSpPr>
        <p:spPr>
          <a:xfrm>
            <a:off x="685800" y="1984248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02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1371600" y="2029968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A192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Chọn Suất &amp; Rạp</a:t>
            </a:r>
            <a:endParaRPr lang="en-US" sz="1250" dirty="0"/>
          </a:p>
        </p:txBody>
      </p:sp>
      <p:sp>
        <p:nvSpPr>
          <p:cNvPr id="17" name="Text 14"/>
          <p:cNvSpPr/>
          <p:nvPr/>
        </p:nvSpPr>
        <p:spPr>
          <a:xfrm>
            <a:off x="3840480" y="2029968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Xem chi tiết phim, trailer, chọn cụm rạp &amp; khung giờ chiếu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548640" y="2551176"/>
            <a:ext cx="804672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685800" y="2642616"/>
            <a:ext cx="548640" cy="365760"/>
          </a:xfrm>
          <a:prstGeom prst="roundRect">
            <a:avLst>
              <a:gd name="adj" fmla="val 15000"/>
            </a:avLst>
          </a:prstGeom>
          <a:solidFill>
            <a:srgbClr val="015198"/>
          </a:solidFill>
          <a:ln/>
        </p:spPr>
      </p:sp>
      <p:sp>
        <p:nvSpPr>
          <p:cNvPr id="20" name="Text 17"/>
          <p:cNvSpPr/>
          <p:nvPr/>
        </p:nvSpPr>
        <p:spPr>
          <a:xfrm>
            <a:off x="685800" y="2642616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03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1371600" y="2688336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A192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Sơ Đồ Ghế Ngồi</a:t>
            </a:r>
            <a:endParaRPr lang="en-US" sz="1250" dirty="0"/>
          </a:p>
        </p:txBody>
      </p:sp>
      <p:sp>
        <p:nvSpPr>
          <p:cNvPr id="22" name="Text 19"/>
          <p:cNvSpPr/>
          <p:nvPr/>
        </p:nvSpPr>
        <p:spPr>
          <a:xfrm>
            <a:off x="3840480" y="2688336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Chọn loại ghế (Thường, VIP, Đôi), giữ chỗ 10 phút đếm ngược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548640" y="3209544"/>
            <a:ext cx="804672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685800" y="3300984"/>
            <a:ext cx="548640" cy="365760"/>
          </a:xfrm>
          <a:prstGeom prst="roundRect">
            <a:avLst>
              <a:gd name="adj" fmla="val 15000"/>
            </a:avLst>
          </a:prstGeom>
          <a:solidFill>
            <a:srgbClr val="015198"/>
          </a:solidFill>
          <a:ln/>
        </p:spPr>
      </p:sp>
      <p:sp>
        <p:nvSpPr>
          <p:cNvPr id="25" name="Text 22"/>
          <p:cNvSpPr/>
          <p:nvPr/>
        </p:nvSpPr>
        <p:spPr>
          <a:xfrm>
            <a:off x="685800" y="3300984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04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1371600" y="3346704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A192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Combo Bắp Nước</a:t>
            </a:r>
            <a:endParaRPr lang="en-US" sz="1250" dirty="0"/>
          </a:p>
        </p:txBody>
      </p:sp>
      <p:sp>
        <p:nvSpPr>
          <p:cNvPr id="27" name="Text 24"/>
          <p:cNvSpPr/>
          <p:nvPr/>
        </p:nvSpPr>
        <p:spPr>
          <a:xfrm>
            <a:off x="3840480" y="3346704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Tùy chọn combo bắp rang bơ, nước ngọt, đồ uống gia đình</a:t>
            </a:r>
            <a:endParaRPr lang="en-US" sz="1100" dirty="0"/>
          </a:p>
        </p:txBody>
      </p:sp>
      <p:sp>
        <p:nvSpPr>
          <p:cNvPr id="28" name="Shape 25"/>
          <p:cNvSpPr/>
          <p:nvPr/>
        </p:nvSpPr>
        <p:spPr>
          <a:xfrm>
            <a:off x="548640" y="3867912"/>
            <a:ext cx="804672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685800" y="3959352"/>
            <a:ext cx="548640" cy="365760"/>
          </a:xfrm>
          <a:prstGeom prst="roundRect">
            <a:avLst>
              <a:gd name="adj" fmla="val 15000"/>
            </a:avLst>
          </a:prstGeom>
          <a:solidFill>
            <a:srgbClr val="015198"/>
          </a:solidFill>
          <a:ln/>
        </p:spPr>
      </p:sp>
      <p:sp>
        <p:nvSpPr>
          <p:cNvPr id="30" name="Text 27"/>
          <p:cNvSpPr/>
          <p:nvPr/>
        </p:nvSpPr>
        <p:spPr>
          <a:xfrm>
            <a:off x="685800" y="3959352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05</a:t>
            </a:r>
            <a:endParaRPr lang="en-US" sz="1200" dirty="0"/>
          </a:p>
        </p:txBody>
      </p:sp>
      <p:sp>
        <p:nvSpPr>
          <p:cNvPr id="31" name="Text 28"/>
          <p:cNvSpPr/>
          <p:nvPr/>
        </p:nvSpPr>
        <p:spPr>
          <a:xfrm>
            <a:off x="1371600" y="4005072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A192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Thanh Toán &amp; Nhận Vé</a:t>
            </a:r>
            <a:endParaRPr lang="en-US" sz="1250" dirty="0"/>
          </a:p>
        </p:txBody>
      </p:sp>
      <p:sp>
        <p:nvSpPr>
          <p:cNvPr id="32" name="Text 29"/>
          <p:cNvSpPr/>
          <p:nvPr/>
        </p:nvSpPr>
        <p:spPr>
          <a:xfrm>
            <a:off x="3840480" y="400507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Áp voucher, chọn ví điện tử/thẻ ngân hàng, xuất vé QR tức thì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015198"/>
          </a:solidFill>
          <a:ln/>
        </p:spPr>
      </p:sp>
      <p:pic>
        <p:nvPicPr>
          <p:cNvPr id="3" name="Image 0" descr="/home/asakiyuki/.gemini/antigravity-ide/brain/9a166504-6680-403f-8ded-ae62c5305916/scratch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80960" y="228600"/>
            <a:ext cx="1005840" cy="411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48640" y="228600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284C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TÍNH NĂNG NỔI BẬT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548640" y="457200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A192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5. Demo: Trang Chủ &amp; Mega Menu</a:t>
            </a:r>
            <a:endParaRPr lang="en-US" sz="2000" dirty="0"/>
          </a:p>
        </p:txBody>
      </p:sp>
      <p:sp>
        <p:nvSpPr>
          <p:cNvPr id="6" name="Shape 3"/>
          <p:cNvSpPr/>
          <p:nvPr/>
        </p:nvSpPr>
        <p:spPr>
          <a:xfrm>
            <a:off x="548640" y="960120"/>
            <a:ext cx="80467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48640" y="4846320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Hệ Thống Đặt Vé Beta Cinemas • WEB2064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548640" y="1097280"/>
            <a:ext cx="36576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🌟 TỔNG QUAN TRANG CHỦ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Hero Banner Carousel: Trình chiếu banner phim bom tấn tự động.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Quick Booking Bar: Chọn nhanh Phim → Rạp → Ngày → Suất.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Tab Đang Chiếu / Sắp Chiếu với poster &amp; nút "Mua Vé".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Sidebar Khuyến Mãi: Banner voucher 20K, đồng giá 59K.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Mega Menu: Dropdown rạp toàn quốc &amp; 3 phim hot nhất.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4389120" y="1051560"/>
            <a:ext cx="4434840" cy="356616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pic>
        <p:nvPicPr>
          <p:cNvPr id="10" name="Image 1" descr="/home/asakiyuki/.gemini/antigravity-ide/brain/9a166504-6680-403f-8ded-ae62c5305916/scratch/screenshots/homepag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80560" y="1143000"/>
            <a:ext cx="4251960" cy="3383280"/>
          </a:xfrm>
          <a:prstGeom prst="rect">
            <a:avLst/>
          </a:prstGeom>
          <a:effectLst>
            <a:outerShdw sx="100000" sy="100000" kx="0" ky="0" algn="bl" rotWithShape="0" blurRad="76200" dist="25400" dir="2700000">
              <a:srgbClr val="000000">
                <a:alpha val="25000"/>
              </a:srgbClr>
            </a:outerShdw>
          </a:effec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015198"/>
          </a:solidFill>
          <a:ln/>
        </p:spPr>
      </p:sp>
      <p:pic>
        <p:nvPicPr>
          <p:cNvPr id="3" name="Image 0" descr="/home/asakiyuki/.gemini/antigravity-ide/brain/9a166504-6680-403f-8ded-ae62c5305916/scratch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80960" y="228600"/>
            <a:ext cx="1005840" cy="411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48640" y="228600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284C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TÍNH NĂNG NỔI BẬT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548640" y="457200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A192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6. Demo: Danh Sách Phim</a:t>
            </a:r>
            <a:endParaRPr lang="en-US" sz="2000" dirty="0"/>
          </a:p>
        </p:txBody>
      </p:sp>
      <p:sp>
        <p:nvSpPr>
          <p:cNvPr id="6" name="Shape 3"/>
          <p:cNvSpPr/>
          <p:nvPr/>
        </p:nvSpPr>
        <p:spPr>
          <a:xfrm>
            <a:off x="548640" y="960120"/>
            <a:ext cx="80467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48640" y="4846320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Hệ Thống Đặt Vé Beta Cinemas • WEB2064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320040" y="1051560"/>
            <a:ext cx="4434840" cy="356616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pic>
        <p:nvPicPr>
          <p:cNvPr id="9" name="Image 1" descr="/home/asakiyuki/.gemini/antigravity-ide/brain/9a166504-6680-403f-8ded-ae62c5305916/scratch/screenshots/movie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143000"/>
            <a:ext cx="4251960" cy="3383280"/>
          </a:xfrm>
          <a:prstGeom prst="rect">
            <a:avLst/>
          </a:prstGeom>
          <a:effectLst>
            <a:outerShdw sx="100000" sy="100000" kx="0" ky="0" algn="bl" rotWithShape="0" blurRad="76200" dist="25400" dir="2700000">
              <a:srgbClr val="000000">
                <a:alpha val="25000"/>
              </a:srgbClr>
            </a:outerShdw>
          </a:effectLst>
        </p:spPr>
      </p:pic>
      <p:sp>
        <p:nvSpPr>
          <p:cNvPr id="10" name="Text 6"/>
          <p:cNvSpPr/>
          <p:nvPr/>
        </p:nvSpPr>
        <p:spPr>
          <a:xfrm>
            <a:off x="4937760" y="1097280"/>
            <a:ext cx="384048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🎞️ DANH SÁCH PHIM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Tab: Đang Chiếu / Sắp Chiếu / Suất Đặc Biệt (URL sync).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Bộ lọc: Hành động, Kinh dị, Hài, Gia đình, Hoạt hình.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Thẻ phim: Điểm đánh giá, 2D/3D/IMAX, nhãn T18/T13/K.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Poster chuẩn 2:3 với hiệu ứng hover zoom mượt.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Nút mua vé &amp; xem trailer nhanh trên mỗi thẻ phim.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015198"/>
          </a:solidFill>
          <a:ln/>
        </p:spPr>
      </p:sp>
      <p:pic>
        <p:nvPicPr>
          <p:cNvPr id="3" name="Image 0" descr="/home/asakiyuki/.gemini/antigravity-ide/brain/9a166504-6680-403f-8ded-ae62c5305916/scratch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80960" y="228600"/>
            <a:ext cx="1005840" cy="411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48640" y="228600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284C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TÍNH NĂNG NỔI BẬT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548640" y="457200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A192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7. Demo: Chi Tiết Phim &amp; Trailer</a:t>
            </a:r>
            <a:endParaRPr lang="en-US" sz="2000" dirty="0"/>
          </a:p>
        </p:txBody>
      </p:sp>
      <p:sp>
        <p:nvSpPr>
          <p:cNvPr id="6" name="Shape 3"/>
          <p:cNvSpPr/>
          <p:nvPr/>
        </p:nvSpPr>
        <p:spPr>
          <a:xfrm>
            <a:off x="548640" y="960120"/>
            <a:ext cx="80467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48640" y="4846320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Hệ Thống Đặt Vé Beta Cinemas • WEB2064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548640" y="1097280"/>
            <a:ext cx="36576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📽️ TRANG CHI TIẾT PHIM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Hero Backdrop mờ nghệ thuật phong cách điện ảnh.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Modal Trailer YouTube popup xem video sắc nét.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Đạo diễn, diễn viên, thời lượng, ngôn ngữ, phụ đề.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Lịch chiếu tích hợp ngay tại trang phim.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Nội dung tóm tắt phim và đánh giá người xem.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4389120" y="1051560"/>
            <a:ext cx="4434840" cy="356616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pic>
        <p:nvPicPr>
          <p:cNvPr id="10" name="Image 1" descr="/home/asakiyuki/.gemini/antigravity-ide/brain/9a166504-6680-403f-8ded-ae62c5305916/scratch/screenshots/movie_detai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80560" y="1143000"/>
            <a:ext cx="4251960" cy="3383280"/>
          </a:xfrm>
          <a:prstGeom prst="rect">
            <a:avLst/>
          </a:prstGeom>
          <a:effectLst>
            <a:outerShdw sx="100000" sy="100000" kx="0" ky="0" algn="bl" rotWithShape="0" blurRad="76200" dist="25400" dir="2700000">
              <a:srgbClr val="000000">
                <a:alpha val="25000"/>
              </a:srgbClr>
            </a:outerShdw>
          </a:effectLst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015198"/>
          </a:solidFill>
          <a:ln/>
        </p:spPr>
      </p:sp>
      <p:pic>
        <p:nvPicPr>
          <p:cNvPr id="3" name="Image 0" descr="/home/asakiyuki/.gemini/antigravity-ide/brain/9a166504-6680-403f-8ded-ae62c5305916/scratch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80960" y="228600"/>
            <a:ext cx="1005840" cy="411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48640" y="228600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284C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TÍNH NĂNG NỔI BẬT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548640" y="457200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A192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8. Demo: Lịch Chiếu Theo Cụm Rạp</a:t>
            </a:r>
            <a:endParaRPr lang="en-US" sz="2000" dirty="0"/>
          </a:p>
        </p:txBody>
      </p:sp>
      <p:sp>
        <p:nvSpPr>
          <p:cNvPr id="6" name="Shape 3"/>
          <p:cNvSpPr/>
          <p:nvPr/>
        </p:nvSpPr>
        <p:spPr>
          <a:xfrm>
            <a:off x="548640" y="960120"/>
            <a:ext cx="80467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48640" y="4846320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Hệ Thống Đặt Vé Beta Cinemas • WEB2064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320040" y="1051560"/>
            <a:ext cx="4434840" cy="356616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pic>
        <p:nvPicPr>
          <p:cNvPr id="9" name="Image 1" descr="/home/asakiyuki/.gemini/antigravity-ide/brain/9a166504-6680-403f-8ded-ae62c5305916/scratch/screenshots/schedul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143000"/>
            <a:ext cx="4251960" cy="3383280"/>
          </a:xfrm>
          <a:prstGeom prst="rect">
            <a:avLst/>
          </a:prstGeom>
          <a:effectLst>
            <a:outerShdw sx="100000" sy="100000" kx="0" ky="0" algn="bl" rotWithShape="0" blurRad="76200" dist="25400" dir="2700000">
              <a:srgbClr val="000000">
                <a:alpha val="25000"/>
              </a:srgbClr>
            </a:outerShdw>
          </a:effectLst>
        </p:spPr>
      </p:pic>
      <p:sp>
        <p:nvSpPr>
          <p:cNvPr id="10" name="Text 6"/>
          <p:cNvSpPr/>
          <p:nvPr/>
        </p:nvSpPr>
        <p:spPr>
          <a:xfrm>
            <a:off x="4937760" y="1097280"/>
            <a:ext cx="384048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📅 LỊCH CHIẾU THEO RẠP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Thanh cuộn 7 ngày liên tiếp, hiển thị thứ/ngày/tháng.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Đa dạng cụm rạp: Thái Nguyên, Xuân Thủy, Tây Sơn...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Nhãn phòng chiếu 2D Digital, 3D, IMAX sống động.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Hiển thị số ghế trống còn lại từng suất chiếu.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Cập nhật ngày xem tự động theo thời gian thực.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015198"/>
          </a:solidFill>
          <a:ln/>
        </p:spPr>
      </p:sp>
      <p:pic>
        <p:nvPicPr>
          <p:cNvPr id="3" name="Image 0" descr="/home/asakiyuki/.gemini/antigravity-ide/brain/9a166504-6680-403f-8ded-ae62c5305916/scratch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80960" y="228600"/>
            <a:ext cx="1005840" cy="411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48640" y="228600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284C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TÍNH NĂNG TRỌNG TÂM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548640" y="457200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A192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9. Demo: Sơ Đồ Chọn Ghế Thông Minh</a:t>
            </a:r>
            <a:endParaRPr lang="en-US" sz="2000" dirty="0"/>
          </a:p>
        </p:txBody>
      </p:sp>
      <p:sp>
        <p:nvSpPr>
          <p:cNvPr id="6" name="Shape 3"/>
          <p:cNvSpPr/>
          <p:nvPr/>
        </p:nvSpPr>
        <p:spPr>
          <a:xfrm>
            <a:off x="548640" y="960120"/>
            <a:ext cx="80467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48640" y="4846320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Hệ Thống Đặt Vé Beta Cinemas • WEB2064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548640" y="1097280"/>
            <a:ext cx="36576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🎯 SƠ ĐỒ PHÒNG CHIẾU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3 Hạng: Standard 65K | VIP 75K | Đôi 150K.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Màn hình cong phát sáng tái hiện rạp chiếu.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Bộ đếm 10 phút giữ vé kích hoạt khi chọn ghế.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Cảnh báo chặn ghế trống đơn lẻ giữa các ghế.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Combo bắp nước với nút [+][-] tăng giảm số lượng.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4389120" y="1051560"/>
            <a:ext cx="4434840" cy="356616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pic>
        <p:nvPicPr>
          <p:cNvPr id="10" name="Image 1" descr="/home/asakiyuki/.gemini/antigravity-ide/brain/9a166504-6680-403f-8ded-ae62c5305916/scratch/screenshots/booking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80560" y="1143000"/>
            <a:ext cx="4251960" cy="3383280"/>
          </a:xfrm>
          <a:prstGeom prst="rect">
            <a:avLst/>
          </a:prstGeom>
          <a:effectLst>
            <a:outerShdw sx="100000" sy="100000" kx="0" ky="0" algn="bl" rotWithShape="0" blurRad="76200" dist="25400" dir="2700000">
              <a:srgbClr val="000000">
                <a:alpha val="25000"/>
              </a:srgbClr>
            </a:outerShdw>
          </a:effectLst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015198"/>
          </a:solidFill>
          <a:ln/>
        </p:spPr>
      </p:sp>
      <p:pic>
        <p:nvPicPr>
          <p:cNvPr id="3" name="Image 0" descr="/home/asakiyuki/.gemini/antigravity-ide/brain/9a166504-6680-403f-8ded-ae62c5305916/scratch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80960" y="228600"/>
            <a:ext cx="1005840" cy="411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48640" y="228600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284C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TÍNH NĂNG NỔI BẬT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548640" y="457200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A192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10. Demo: Thanh Toán &amp; Vé QR Code</a:t>
            </a:r>
            <a:endParaRPr lang="en-US" sz="2000" dirty="0"/>
          </a:p>
        </p:txBody>
      </p:sp>
      <p:sp>
        <p:nvSpPr>
          <p:cNvPr id="6" name="Shape 3"/>
          <p:cNvSpPr/>
          <p:nvPr/>
        </p:nvSpPr>
        <p:spPr>
          <a:xfrm>
            <a:off x="548640" y="960120"/>
            <a:ext cx="80467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48640" y="4846320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Hệ Thống Đặt Vé Beta Cinemas • WEB2064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320040" y="1051560"/>
            <a:ext cx="4434840" cy="356616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pic>
        <p:nvPicPr>
          <p:cNvPr id="9" name="Image 1" descr="/home/asakiyuki/.gemini/antigravity-ide/brain/9a166504-6680-403f-8ded-ae62c5305916/scratch/screenshots/checkou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143000"/>
            <a:ext cx="4251960" cy="3383280"/>
          </a:xfrm>
          <a:prstGeom prst="rect">
            <a:avLst/>
          </a:prstGeom>
          <a:effectLst>
            <a:outerShdw sx="100000" sy="100000" kx="0" ky="0" algn="bl" rotWithShape="0" blurRad="76200" dist="25400" dir="2700000">
              <a:srgbClr val="000000">
                <a:alpha val="25000"/>
              </a:srgbClr>
            </a:outerShdw>
          </a:effectLst>
        </p:spPr>
      </p:pic>
      <p:sp>
        <p:nvSpPr>
          <p:cNvPr id="10" name="Text 6"/>
          <p:cNvSpPr/>
          <p:nvPr/>
        </p:nvSpPr>
        <p:spPr>
          <a:xfrm>
            <a:off x="4937760" y="1097280"/>
            <a:ext cx="384048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💳 THANH TOÁN &amp; VÉ QR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Cổng: MoMo, ZaloPay, ShopeePay, ATM VNPAY, Visa.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Nhập mã giảm giá BETA20K, CHAOSINHVIEN.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Tóm tắt minh bạch phim, rạp, ghế, combo, tổng tiền.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Mã QR Code độc nhất quét tại cổng vào rạp.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Nút "Lưu vé về máy" &amp; tự động lưu lịch sử.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015198"/>
          </a:solidFill>
          <a:ln/>
        </p:spPr>
      </p:sp>
      <p:pic>
        <p:nvPicPr>
          <p:cNvPr id="3" name="Image 0" descr="/home/asakiyuki/.gemini/antigravity-ide/brain/9a166504-6680-403f-8ded-ae62c5305916/scratch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80960" y="228600"/>
            <a:ext cx="1005840" cy="411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48640" y="228600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284C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TÍNH NĂNG NỔI BẬT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548640" y="457200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A192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11. Demo: Tài Khoản &amp; Lịch Sử Đặt Vé</a:t>
            </a:r>
            <a:endParaRPr lang="en-US" sz="2000" dirty="0"/>
          </a:p>
        </p:txBody>
      </p:sp>
      <p:sp>
        <p:nvSpPr>
          <p:cNvPr id="6" name="Shape 3"/>
          <p:cNvSpPr/>
          <p:nvPr/>
        </p:nvSpPr>
        <p:spPr>
          <a:xfrm>
            <a:off x="548640" y="960120"/>
            <a:ext cx="80467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48640" y="4846320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Hệ Thống Đặt Vé Beta Cinemas • WEB2064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548640" y="1097280"/>
            <a:ext cx="36576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👤 QUẢN LÝ TÀI KHOẢN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Modal Đăng nhập/Đăng ký popup không chuyển trang.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Validation email, mật khẩu, xác nhận mật khẩu, SĐT.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Cập nhật họ tên, SĐT, ngày sinh, rạp yêu thích.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Điểm Beta Points: Standard / VIP / Diamond.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Lịch sử vé: Sắp xem / Đã xem, xem lại mã QR.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4389120" y="1051560"/>
            <a:ext cx="4434840" cy="356616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pic>
        <p:nvPicPr>
          <p:cNvPr id="10" name="Image 1" descr="/home/asakiyuki/.gemini/antigravity-ide/brain/9a166504-6680-403f-8ded-ae62c5305916/scratch/screenshots/profil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80560" y="1143000"/>
            <a:ext cx="4251960" cy="3383280"/>
          </a:xfrm>
          <a:prstGeom prst="rect">
            <a:avLst/>
          </a:prstGeom>
          <a:effectLst>
            <a:outerShdw sx="100000" sy="100000" kx="0" ky="0" algn="bl" rotWithShape="0" blurRad="76200" dist="25400" dir="2700000">
              <a:srgbClr val="000000">
                <a:alpha val="25000"/>
              </a:srgbClr>
            </a:outerShdw>
          </a:effectLst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015198"/>
          </a:solidFill>
          <a:ln/>
        </p:spPr>
      </p:sp>
      <p:pic>
        <p:nvPicPr>
          <p:cNvPr id="3" name="Image 0" descr="/home/asakiyuki/.gemini/antigravity-ide/brain/9a166504-6680-403f-8ded-ae62c5305916/scratch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80960" y="228600"/>
            <a:ext cx="1005840" cy="411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48640" y="228600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284C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TÍNH NĂNG NỔI BẬT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548640" y="457200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A192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12. Demo: Bảng Giá Vé &amp; Khuyến Mãi</a:t>
            </a:r>
            <a:endParaRPr lang="en-US" sz="2000" dirty="0"/>
          </a:p>
        </p:txBody>
      </p:sp>
      <p:sp>
        <p:nvSpPr>
          <p:cNvPr id="6" name="Shape 3"/>
          <p:cNvSpPr/>
          <p:nvPr/>
        </p:nvSpPr>
        <p:spPr>
          <a:xfrm>
            <a:off x="548640" y="960120"/>
            <a:ext cx="80467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48640" y="4846320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Hệ Thống Đặt Vé Beta Cinemas • WEB2064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320040" y="1051560"/>
            <a:ext cx="4434840" cy="356616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pic>
        <p:nvPicPr>
          <p:cNvPr id="9" name="Image 1" descr="/home/asakiyuki/.gemini/antigravity-ide/brain/9a166504-6680-403f-8ded-ae62c5305916/scratch/screenshots/pricing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143000"/>
            <a:ext cx="4251960" cy="3383280"/>
          </a:xfrm>
          <a:prstGeom prst="rect">
            <a:avLst/>
          </a:prstGeom>
          <a:effectLst>
            <a:outerShdw sx="100000" sy="100000" kx="0" ky="0" algn="bl" rotWithShape="0" blurRad="76200" dist="25400" dir="2700000">
              <a:srgbClr val="000000">
                <a:alpha val="25000"/>
              </a:srgbClr>
            </a:outerShdw>
          </a:effectLst>
        </p:spPr>
      </p:pic>
      <p:sp>
        <p:nvSpPr>
          <p:cNvPr id="10" name="Text 6"/>
          <p:cNvSpPr/>
          <p:nvPr/>
        </p:nvSpPr>
        <p:spPr>
          <a:xfrm>
            <a:off x="4937760" y="1097280"/>
            <a:ext cx="384048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💰 BẢNG GIÁ VÉ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Bảng giá theo loại ghế: ngày thường &amp; cuối tuần.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Ưu đãi sinh viên: giá đặc biệt dành cho HSSV.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Menu bắp nước: Combo Single, Couple, Family.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Tin tức &amp; Khuyến mãi: sự kiện, giảm giá mới nhất.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Thông tin liên hệ &amp; chính sách rạp.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015198"/>
          </a:solidFill>
          <a:ln/>
        </p:spPr>
      </p:sp>
      <p:pic>
        <p:nvPicPr>
          <p:cNvPr id="3" name="Image 0" descr="/home/asakiyuki/.gemini/antigravity-ide/brain/9a166504-6680-403f-8ded-ae62c5305916/scratch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80960" y="228600"/>
            <a:ext cx="1005840" cy="411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48640" y="228600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284C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TRẢI NGHIỆM NGƯỜI DÙNG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548640" y="457200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A192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13. Demo: Xử Lý Lỗi 404 &amp; Trang Báo Lỗi</a:t>
            </a:r>
            <a:endParaRPr lang="en-US" sz="2000" dirty="0"/>
          </a:p>
        </p:txBody>
      </p:sp>
      <p:sp>
        <p:nvSpPr>
          <p:cNvPr id="6" name="Shape 3"/>
          <p:cNvSpPr/>
          <p:nvPr/>
        </p:nvSpPr>
        <p:spPr>
          <a:xfrm>
            <a:off x="548640" y="960120"/>
            <a:ext cx="80467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48640" y="4846320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Hệ Thống Đặt Vé Beta Cinemas • WEB2064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548640" y="1097280"/>
            <a:ext cx="36576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🚀 XỬ LÝ NGOẠI LỆ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Vite Middleware &amp; _redirects: URL sai → /404.html.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Kiểm tra ID phim: ID không hợp lệ → chuyển 404.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Giao diện phi hành gia 3D sinh động.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Nút quay về trang chủ hoặc xem lịch chiếu.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Trang lỗi 500: nút "Tải lại", Hotline hỗ trợ.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4389120" y="1051560"/>
            <a:ext cx="4434840" cy="356616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pic>
        <p:nvPicPr>
          <p:cNvPr id="10" name="Image 1" descr="/home/asakiyuki/.gemini/antigravity-ide/brain/9a166504-6680-403f-8ded-ae62c5305916/scratch/screenshots/page404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80560" y="1143000"/>
            <a:ext cx="4251960" cy="3383280"/>
          </a:xfrm>
          <a:prstGeom prst="rect">
            <a:avLst/>
          </a:prstGeom>
          <a:effectLst>
            <a:outerShdw sx="100000" sy="100000" kx="0" ky="0" algn="bl" rotWithShape="0" blurRad="76200" dist="25400" dir="2700000">
              <a:srgbClr val="000000">
                <a:alpha val="25000"/>
              </a:srgbClr>
            </a:outerShdw>
          </a:effectLst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015198"/>
          </a:solidFill>
          <a:ln/>
        </p:spPr>
      </p:sp>
      <p:pic>
        <p:nvPicPr>
          <p:cNvPr id="3" name="Image 0" descr="/home/asakiyuki/.gemini/antigravity-ide/brain/9a166504-6680-403f-8ded-ae62c5305916/scratch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80960" y="228600"/>
            <a:ext cx="1005840" cy="411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48640" y="228600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284C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KẾT QUẢ ĐẠT ĐƯỢC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548640" y="457200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A192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14. Đánh Giá Kết Quả Dự Án</a:t>
            </a:r>
            <a:endParaRPr lang="en-US" sz="2000" dirty="0"/>
          </a:p>
        </p:txBody>
      </p:sp>
      <p:sp>
        <p:nvSpPr>
          <p:cNvPr id="6" name="Shape 3"/>
          <p:cNvSpPr/>
          <p:nvPr/>
        </p:nvSpPr>
        <p:spPr>
          <a:xfrm>
            <a:off x="548640" y="960120"/>
            <a:ext cx="80467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48640" y="4846320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Hệ Thống Đặt Vé Beta Cinemas • WEB2064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548640" y="1188720"/>
            <a:ext cx="256032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48640" y="132588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1519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29 / 29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548640" y="173736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TÍNH NĂNG HOÀN THÀNH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548640" y="196596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Đạt 100% yêu cầu đề cương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3291840" y="1188720"/>
            <a:ext cx="256032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291840" y="132588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1519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&lt; 500ms</a:t>
            </a:r>
            <a:endParaRPr lang="en-US" sz="2200" dirty="0"/>
          </a:p>
        </p:txBody>
      </p:sp>
      <p:sp>
        <p:nvSpPr>
          <p:cNvPr id="14" name="Text 11"/>
          <p:cNvSpPr/>
          <p:nvPr/>
        </p:nvSpPr>
        <p:spPr>
          <a:xfrm>
            <a:off x="3291840" y="173736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TỐC ĐỘ BUILD VITE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3291840" y="196596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Tối ưu tài nguyên &amp; hiệu năng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6035040" y="1188720"/>
            <a:ext cx="256032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035040" y="132588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1519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100%</a:t>
            </a:r>
            <a:endParaRPr lang="en-US" sz="2200" dirty="0"/>
          </a:p>
        </p:txBody>
      </p:sp>
      <p:sp>
        <p:nvSpPr>
          <p:cNvPr id="18" name="Text 15"/>
          <p:cNvSpPr/>
          <p:nvPr/>
        </p:nvSpPr>
        <p:spPr>
          <a:xfrm>
            <a:off x="6035040" y="173736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RESPONSIVE CHUẨN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6035040" y="196596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Mobile 375px → Màn hình 4K</a:t>
            </a:r>
            <a:endParaRPr lang="en-US" sz="900" dirty="0"/>
          </a:p>
        </p:txBody>
      </p:sp>
      <p:sp>
        <p:nvSpPr>
          <p:cNvPr id="20" name="Shape 17"/>
          <p:cNvSpPr/>
          <p:nvPr/>
        </p:nvSpPr>
        <p:spPr>
          <a:xfrm>
            <a:off x="548640" y="2560320"/>
            <a:ext cx="8046720" cy="201168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822960" y="2743200"/>
            <a:ext cx="7498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92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🌟 ĐIỂM SÁNG NỔI BẬT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822960" y="3063240"/>
            <a:ext cx="74980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Giao diện bắt mắt, phối màu chuẩn thương hiệu Beta Cinemas.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Tính năng hoàn chỉnh: tương tác, tính tiền, chọn ghế, sinh mã QR.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Mã nguồn sạch sẽ: SCSS &amp; JS module hóa theo từng trang.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SEO &amp; Accessibility: meta title, description, alt, semantic HTML5.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6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286000" y="731520"/>
            <a:ext cx="4572000" cy="3657600"/>
          </a:xfrm>
          <a:prstGeom prst="ellipse">
            <a:avLst/>
          </a:prstGeom>
          <a:solidFill>
            <a:srgbClr val="015198">
              <a:alpha val="15000"/>
            </a:srgbClr>
          </a:solidFill>
          <a:ln/>
        </p:spPr>
      </p:sp>
      <p:pic>
        <p:nvPicPr>
          <p:cNvPr id="3" name="Image 0" descr="/home/asakiyuki/.gemini/antigravity-ide/brain/9a166504-6680-403f-8ded-ae62c5305916/scratch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86200" y="731520"/>
            <a:ext cx="1371600" cy="5486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14630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CẢM ƠN THẦY CÔ &amp; HỘI ĐỒNG ĐÃ LẮNG NGHE!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457200" y="19202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HỆ THỐNG ĐẶT VÉ XEM PHIM TRỰC TUYẾN - BETA CINEMAS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1371600" y="2377440"/>
            <a:ext cx="6400800" cy="1280160"/>
          </a:xfrm>
          <a:prstGeom prst="roundRect">
            <a:avLst>
              <a:gd name="adj" fmla="val 7143"/>
            </a:avLst>
          </a:prstGeom>
          <a:solidFill>
            <a:srgbClr val="0F1F38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645920" y="2514600"/>
            <a:ext cx="5852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🔮 HƯỚNG PHÁT TRIỂN TIẾP THEO: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1645920" y="2788920"/>
            <a:ext cx="5852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1. Backend RESTful API với Node.js / NestJS &amp; MongoDB.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2. Cổng thanh toán Sandbox (VNPAY / MoMo IPN Webhook).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3. Nâng cấp PWA gửi Push Notification trước giờ chiếu.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457200" y="39319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Mời Thầy/Cô và các bạn đặt câu hỏi (Q&amp;A) &amp; Trải nghiệm Live Demo!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Dự Án WEB2064 - Beta Cinemas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Báo Cáo Đồ Án WEB2064 - Hệ Thống Đặt Vé Beta Cinemas</dc:title>
  <dc:subject>PptxGenJS Presentation</dc:subject>
  <dc:creator>Sinh Viên Thực Hiện - FPT Polytechnic</dc:creator>
  <cp:lastModifiedBy>Sinh Viên Thực Hiện - FPT Polytechnic</cp:lastModifiedBy>
  <cp:revision>1</cp:revision>
  <dcterms:created xsi:type="dcterms:W3CDTF">2026-09-29T12:26:20Z</dcterms:created>
  <dcterms:modified xsi:type="dcterms:W3CDTF">2026-09-29T12:26:20Z</dcterms:modified>
</cp:coreProperties>
</file>